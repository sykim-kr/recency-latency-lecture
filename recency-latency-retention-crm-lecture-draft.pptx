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400" b="1">
                <a:solidFill>
                  <a:srgbClr val="FFFFFF"/>
                </a:solidFill>
                <a:latin typeface="Pretendard"/>
              </a:rPr>
              <a:t>고객 이탈은 갑자기 일어나지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9EAFF"/>
                </a:solidFill>
                <a:latin typeface="Pretendard"/>
              </a:rPr>
              <a:t>Recency / Latency 기반 리텐션 분석과 CRM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98755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대상: CRM / Growth / Product Analytics / Marketing 실무자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형식: 60~90분 강의용 슬라이드 원고 v2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기반: Jim Novo, Marketing Productivity Blog (블로그 원문 중심, PDF 파싱 한계로 원문 직접 인용은 제한됨)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작성: OCEO 크롱·또롱이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오늘의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진짜 질문: "언제부터 고객이 덜 반응하기 시작했는가?"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"고객은 정말 어느 날 갑자기 떠날까요?"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대부분의 팀은 이탈을 이미 일어난 뒤에 발견합니다.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이것들은 결과입니다. 원인이 아닙니다.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월매출이 줄었다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뉴스레터 반응률이 떨어졌다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앱 재방문이 낮아졌다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매출 하락 알람 화면 → 그 이전 행동 신호 타임라인 (Active → Cooling → At-risk → Gone)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 강의가 끝나면 할 수 있어야 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핵심: 분석의 끝은 리포트가 아니라 개입 타이밍이다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평균 리텐션이 왜 위험한지 설명한다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/ Latency / Tripwire 개념을 팀에 설명한다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Mixpanel에서 Recency 코호트 리포트를 설계한다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자동화에서 Tripwire를 정의한다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캠페인을 Timing × Offer 관점으로 테스트한다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이탈은 이벤트가 아니라 프로세스다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같은 신호, 두 가지 이름: 늦게 보면 Win-back, 일찍 보면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고객은 어느 날 사라지지 않습니다. 조금씩 멀어집니다.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덜 방문하고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덜 클릭하고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덜 구매하고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덜 반응하다가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그 다음에 사라집니다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고객 상태 흐름 — Active → Cooling → At-risk → Defected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우리가 너무 늦게 보는 지표들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지표가 움직였을 때는 이미 고객 행동 변화가 진행된 뒤입니다.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팀이 매주 보는 지표: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문제: 이 지표들은 모두 후행 지표입니다.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월매출 / 전체 전환율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전체 캠페인 반응률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전체 활성 사용자 수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전체 리텐션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후행 지표 vs 선행 행동 신호 비교 타임라인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Jim Novo가 말하는 핵심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Marketing Productivity: 같은 예산으로 더 높은 고객 가치를 만든다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Jim Novo의 Customer Marketing 방법론 — 오래된 자료, 여전히 강한 프레임: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복잡한 LTV 모델보다 시간 기반 행동 분석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고객을 행동 주기로 쪼개서 본다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최근성과 지연성으로 개입 타이밍을 찾는다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모든 고객에게 같은 메시지 금지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반복 가능한 CRM 운영 시스템으로 만든다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Recency: 마지막 행동 이후 얼마나 지났는가?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"이 고객이 우리와 마지막으로 접촉한 게 언제인가?"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= 마지막 의미 있는 행동 이후 경과 시간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업종별 예시: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이커머스: 마지막 구매 후 며칠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SaaS: 마지막 로그인 후 며칠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앱: 마지막 실행 후 며칠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뉴스레터: 마지막 클릭 후 며칠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Recency가 성과를 가른다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전체 고객이 아니라, 얼마나 최근 고객인가가 성과를 가릅니다.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최근에 행동한 고객일수록 다시 행동할 가능성이 높습니다.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Recency 구간별 반응률은 이렇게 다릅니다: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Recency 구간 / 반응률 수준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0~30일 / 매우 높음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31~60일 / 높음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61~90일 / 중간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91~180일 / 낮음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181일 이상 / 매우 낮음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Recency bucket별 반응률 하락 그래프 (우하향 곡선)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Latency: 정상 주기보다 늦어지고 있는가?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"이 고객은 자기 정상 패턴보다 늦어지고 있는가?"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Latency = 정상 행동 주기 또는 Milestone 대비 지연 정도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업종별 예시: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이커머스: 보통 30일마다 구매하던 고객이 45일째 미구매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SaaS 온보딩: 가입 7일 안에 핵심 기능 미사용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B2B: 평균 8주마다 Add-on 구매하던 고객이 12주째 미구매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예약 서비스: 월 1회 예약 고객이 2개월째 미예약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Recency vs Latency: 질문이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Recency는 절대 시간, Latency는 상대적 지연이다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두 지표 모두 시간 기반이지만, 묻는 질문이 다릅니다.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Recency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Latency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"얼마나 오래 안 왔나?"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모든 고객을 같은 버킷으로 비교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이커머스·뉴스레터·앱에 적합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"자기 기준보다 이미 늦었나?"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세그먼트별 기준이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두 개념 비교 다이어그램 (타임라인 2개)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Tripwire: 개입해야 할 시점을 정의하라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언제 개입해야 가장 적은 비용으로 가장 큰 행동 변화를 만들 수 있는가?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Tripwire = 고객 행동이 임계점을 넘는 순간 → 자동 개입을 발동하는 조건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마지막 구매 후 90일 경과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마지막 로그인 후 14일 경과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가입 후 7일 내 핵심 기능 미사용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Add-on 구매 평균 주기 초과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너무 이르면, 너무 늦으면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Tripwire는 이 "적절한 시점"을 데이터로 정의하는 작업입니다.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개입 타이밍이 전부입니다.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시점 / 결과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너무 이른 개입 / 원래 돌아올 고객에게 할인만 줌 → 마진 손실 + 할인 학습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너무 늦은 개입 / 이미 떠난 고객 Win-back → 비용 높고 반응률 낮음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적절한 개입 / 최소 비용으로 이탈 지연 → CRM ROI 최대화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개입 타이밍 곡선 — 너무 이름/최적/너무 늦음 구간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평균의 착시: 10% 반응률의 진실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평균은 성과를 설명하지 않습니다. 평균은 차이를 숨깁니다.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반응률이 10%인 캠페인을 Recency로 쪼개면: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같은 예산, 같은 메시지인데 40배 이상의 성과 차이가 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구간 / 반응률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최근 1개월 고객 / 28%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12개월 이상 고객 / 0.6%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평균에서 세그먼트로: 실무 액션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캠페인 성과를 볼 때 이렇게 질문합니다: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Action: 전체 평균 리포트 하나로 끝내지 말고 → Recency bucket별 캠페인 성과 리포트를 만든다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구간별 반응률은 어떻게 다른가?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어느 구간은 예산 낭비인가?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어느 구간에 더 강한 Offer를 테스트할 가치가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어느 구간은 "재획득 대상"이지 "고객"이 아닌가?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사례 1 | Web Retail: 3%가 31%를 만든다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3%의 최근 고객이 성과의 1/3을 만들었습니다.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IMissAsia.com의 뉴스레터 반응률 하락 분석: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전체 고객 분포: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뉴스레터 반응자 분포: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0~30일 고객: 3%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181일 이상 고객: 31%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0~30일 고객이 반응자의 31%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0~60일 고객(전체 9%)이 반응의 절반 가까이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고객 분포(파이) vs 반응자 분포(파이) 나란히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사례 1 교훈: 고객 베이스의 구조를 먼저 보라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뉴스레터 성과는 전체 고객에게 균등하지 않습니다. 최근 고객에 집중됩니다.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실무 액션: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Action: 먼저 고객 베이스의 Recency 분포를 확인하라 → 캠페인 전략은 그 다음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최근 고객 → 과도한 할인 X, 추천 상품 중심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오래된 고객 → 강한 메시지도 반응 안 함, 별도 전략 필요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반응률이 급격히 떨어지는 구간(예: 91~120일)을 찾아 테스트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사례 2 | Hair Salon: 평균 40일의 함정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평균 40일 기준이 너무 거칠었던 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Salon B의 실험: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그런데 문제가 있었습니다: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고가치 고객 평균 방문 주기: 40일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40일 이상 미방문 고객에게 할인 엽서 발송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초기 반응률: 25%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"어차피 예약하려고 했다" → 불필요한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이미 너무 늦어서 돌아오지 않는 고객도 섞임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Hair Salon의 진짜 발견: 세그먼트가 기준을 바꾼다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평균 Tripwire는 좋은 출발점이지만, 최종 답은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고객을 머리 길이로 나누자: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40일 기준의 문제: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세그먼트별 기준으로 변경 후 → 타깃 고객 반응률 30% 증가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세그먼트 / 평균 방문 주기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긴 머리 고객 / 75일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짧은 머리 고객 / 20일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긴 머리 고객: 너무 이른 개입 → 불필요한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짧은 머리 고객: 너무 늦은 개입 → 이미 이탈 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사례 3 | B2B Software: 월매출로는 원인을 못 찾는다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결과 지표가 아니라 단계 간 지연을 봐야 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기본 제품 판매는 증가, Add-on 매출은 기대 이하.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나쁜 질문: "왜 Add-on 매출이 둔화됐을까?"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월별 매출 데이터만 보면 답이 없습니다.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좋은 질문: "고객이 Base 구매 후 Add-on을 사기까지 걸리는 시간이 늘었는가?"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B2B Software: 단계별로 쪼개야 원인이 보인다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데이터를 나눌수록 원인이 보입니다.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Add-on 간 평균 구매 간격 비교 (전년도 → 올해):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후반 단계에서 지연이 발생. 추가 분석: 신규 영업사원 고객군에서 Lifecycle 차이 발견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단계 / 전년도 / 올해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Base → 1st add-on / 12.3주 / 12.1주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1st → 2nd / 10.5주 / 10.2주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2nd → 3rd / 8.7주 / 8.9주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3rd → 4th / 6.1주 / 6.7주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4th → 5th / 5.2주 / 6.5주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단계별 간격 변화 bar chart (전년도 vs 올해 비교)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B2B/온보딩에서 봐야 할 Latency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B2B와 SaaS에서 봐야 할 단계 간 시간: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Action: Milestone별 Latency를 측정하고, 지연이 발생하는 단계에 세일즈/CS/교육 개입을 설계한다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Signup → Activation까지 걸리는 시간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Activation → First Value까지 걸리는 시간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First Value → Paid Conversion까지 걸리는 시간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Base Product → Add-on까지 걸리는 시간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Renewal 전 위험 신호 (사용량 감소, 로그인 감소)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사례 4 | Timing × Offer: 순이익으로 판단하라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CRM의 목표는 클릭률이 아니라 고객 가치와 수익성입니다.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Jim Novo의 3개월 Recency 고객 할인 테스트: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반응률만 보면 20% 할인이 이깁니다.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순이익은 15% 할인이 가장 높습니다.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할인율 / 반응률 / 순이익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5% / 2% / 400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10% / 4% / 640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15% / 6% / 720 ← 최적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20% / 8% / 640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리포트 설계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이 4개 리포트가 있으면 리텐션 CRM의 기반이 갖춰집니다.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4가지 리포트를 설계합니다: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Distribution — 고객 베이스 구조 파악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Response by Recency — 캠페인 성과 구간별 분석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Latency Tripwire — 위험 고객 자동 식별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Milestone Latency — 단계 간 지연 분석 (B2B/온보딩)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1 | Recency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목적: 고객 베이스가 최근 고객 중심인지, 오래된 고객이 쌓이는지 파악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설계: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Report Type: Insights / User Profile Segmentation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Event: Purchase / App Open / Login / Key Action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Breakdown: days_since_last_event bucket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Visualization: Stacked bar chart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최근 30일 고객 비중은 얼마인가?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Mixpanel Insights 화면 모형 (Recency bucket bar chart)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2 | Response by Recency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목적: 전체 캠페인 반응률 뒤에 숨은 구간별 성과 차이 확인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설계: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Report Type: Insights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Event: Campaign Sent → Click / Purchase / Conversion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Breakdown: Recency bucket at send time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Visualization: Grouped bar chart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구간별 반응률은 어떻게 다른가?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예산을 줄여야 할 구간은?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3 | Latency Tripwire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목적: 정상 주기 대비 늦어진 고객을 CRM 자동화 대상으로 식별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설계: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Report Type: Cohort / Custom Property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Event: Purchase / Booking / Add-on / Key Feature Use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Breakdown: expected_interval_segment + actual_days_since_last_event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Filters: customer_type, product_type, plan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세그먼트별 정상 주기는 얼마인가?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현재 정상 주기를 초과한 고객은 몇 명인가?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4 | Milestone Latency (B2B/온보딩)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목적: 어느 단계에서 지연이 발생하는지, 어느 세그먼트가 문제인지 확인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Funnel 예시: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Breakdown 기준: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Signup → Activation → First Value → Add-on Purchase → Renewal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source / salesperson / industry / plan / onboarding path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어느 단계 간격이 길어지고 있는가?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어느 세그먼트(채널, 담당자, 고객 유형)에서 문제인가?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Funnel + 단계별 평균 일수 표 (전기 vs 이번 기 비교)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자동화 설계 공식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자동화는 발송 룰이 아니라 측정 가능한 개입 시스템이다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자동화를 설계할 때 반드시 5가지를 명확히: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Trigger — 어떤 행동 조건에서 발동하는가?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 — 누구에게 보내는가?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— 언제 보내는가?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Message/Offer — 무엇을 제안하는가?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Measurement — 성공을 무엇으로 판단하는가?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Scenario 1 | 이커머스 재구매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항목 / 내용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Trigger / 마지막 구매 후 60일 경과 + 최근 12개월 2회 이상 구매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Segment / 기존 반복 구매 고객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Timing / 60일 후 1차 → 75일 후 2차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Message / 최근 구매 상품 연관 보충/추천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Measurement / 재구매율 / 매출 / 할인 비용 / 순마진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자동화 플로우 다이어그램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Scenario 2 | 앱 Activation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항목 / 내용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Trigger / 가입 후 7일 내 핵심 기능 미사용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 / 신규 가입자 중 Activation 미완료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/ D+3 교육 → D+7 리마인드 → D+10 개인화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Message / 첫 성공 경험을 만드는 짧은 가이드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Measurement / 핵심 기능 사용률 / D7·D14 Retention / 유료 전환율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Scenario 3 | B2B SaaS Add-on 지연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항목 / 내용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Trigger / Base 구매 후 평균 Add-on 구매 주기 초과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 / 온보딩 완료 계정 중 Add-on 미구매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/ 평균 주기 초과 직전 세일즈/CS 알림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Message / 사용 맥락별 Add-on 활용 사례 + ROI 계산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Measurement / Add-on conversion / time-to-add-on / expansion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A/B Test 프레임: Tripwire 타이밍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가설: 초기 Tripwire 개입은 늦은 Win-back보다 수익성이 높다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Target: 반복 구매 고객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A: 60일 경과 시 메시지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B: 90일 경과 시 메시지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C: 120일 경과 시 메시지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KPI: 재구매율 / 할인 비용 / 순마진 (반응률이 아닌 수익성 중심)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Learning: 개입 최적 시점 도출 → Tripwire 기준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A/B Test 프레임: 구간별 Offer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가설: Recency 구간별로 최적 Offer가 다르다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Target: 마지막 구매 후 91~120일 고객 (위험 전환 구간)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A: 10%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B: 15%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C: 20%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KPI: 구매 전환율 / 할인 비용 / 순이익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Learning: 반응률이 가장 높은 Offer ≠ 수익성 최고 Offer → 차이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팀 실습: 우리 서비스의 Tripwire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팀별로 아래 질문에 답합니다 (15~20분):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Output (팀별 1장):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우리 서비스의 핵심 반복 행동은 무엇인가?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마지막 행동 후 며칠이 지나면 위험 신호인가?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평균 기준 vs 세그먼트별 기준 — 어느 쪽이 맞는가?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너무 이른 개입의 비용은 무엇인가?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너무 늦은 개입의 비용은 무엇인가?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Trigger condition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Target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팀 실습: Timing × Offer Grid 워크시트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각 팀이 자기 서비스 기준으로 이 표를 채웁니다.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Recency/Latency 구간 / 고객 상태 / 개입 목적 / 메시지/Offer / KPI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0~30일 / 활성 / 재구매 촉진 / 추천 상품 / 재구매율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31~60일 / 약한 둔화 / 관계 유지 / 콘텐츠+추천 / 클릭률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61~90일 / 위험 시작 / 이탈 방지 / 혜택 테스트 / 전환율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91~120일 / 이탈 위험 / 강한 개입 / 최적 Offer / 순이익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181일 이상 / 이탈/휴면 / 재획득 / Win-back 별도 / 재활성율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실무 적용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체크 못 한 항목이 오늘 당장 해야 할 일입니다.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리텐션 CRM 설계 전 확인: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핵심 반복 행동이 정의되어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마지막 행동일을 추적하고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Recency bucket을 만들 수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세그먼트별 정상 주기를 알고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Tripwire 기준이 데이터로 검증되었는가?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CRM 메시지와 분석 리포트가 연결되어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KPI가 반응률 외에 순이익·마진까지 포함하는가?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오늘의 핵심 5가지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Data → Insight → Action → Experiment →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 순환이 만들어질 때, 리텐션 분석은 진짜 성장 운영 시스템이 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이탈은 이벤트가 아니라 프로세스다 — 행동 신호는 먼저 온다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평균은 차이를 숨긴다 — Recency bucket으로 쪼개라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행동을 바꾸려면 행동 변수로 타깃팅해야 한다 — 전체 대상 일괄 발송 금지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리텐션 마케팅 = 더 많이 보내는 것이 아니라 더 정확한 시점에 개입하는 것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자동화 = 룰이 아니라 반복 학습 시스템 — 측정 없이 자동화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내일부터 팀에서 해볼 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첫 번째 목표: “전체 평균” 보고서를 “Recency 구간별 액션 보고서”로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오늘 강의의 목적은 “좋은 개념을 이해하는 것”이 아니라, 리텐션 운영 방식을 하나 바꾸는 것입니다.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최근 캠페인 하나를 고른다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고객을 마지막 행동일 기준으로 4~6개 Recency 구간으로 나눈다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구간별 반응률·전환율·매출·마진을 비교한다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반응이 급격히 꺾이는 구간을 Tripwire 후보로 잡는다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그 구간에 보낼 메시지/Offer를 2~3개로 테스트한다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