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400" b="1">
                <a:solidFill>
                  <a:srgbClr val="FFFFFF"/>
                </a:solidFill>
                <a:latin typeface="Pretendard"/>
              </a:rPr>
              <a:t>고객 이탈은 갑자기 일어나지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98755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D9EAFF"/>
                </a:solidFill>
                <a:latin typeface="Pretendard"/>
              </a:rPr>
              <a:t>Jim Novo 원문 기반 Recency / Latency 리텐션 분석과 CRM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98755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Pretendard"/>
              </a:defRPr>
            </a:pPr>
            <a:r>
              <a:rPr>
                <a:solidFill>
                  <a:srgbClr val="FFFFFF"/>
                </a:solidFill>
              </a:rPr>
              <a:t>대상: CRM / Growth / Product Analytics / Marketing 실무자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Pretendard"/>
              </a:defRPr>
            </a:pPr>
            <a:r>
              <a:rPr>
                <a:solidFill>
                  <a:srgbClr val="FFFFFF"/>
                </a:solidFill>
              </a:rPr>
              <a:t>형식: 60~90분 강의용 슬라이드 원고 v3-final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Pretendard"/>
              </a:defRPr>
            </a:pPr>
            <a:r>
              <a:rPr>
                <a:solidFill>
                  <a:srgbClr val="FFFFFF"/>
                </a:solidFill>
              </a:rPr>
              <a:t>기반: Jim Novo, *Drilling Down: Turning Customer Data into Profits with a Spreadsheet*, 3rd ed. PDF 원문 반영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  <a:latin typeface="Pretendard"/>
              </a:defRPr>
            </a:pPr>
            <a:r>
              <a:rPr>
                <a:solidFill>
                  <a:srgbClr val="FFFFFF"/>
                </a:solidFill>
              </a:rPr>
              <a:t>작성: OCEO 크롱·또롱이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오늘의 질문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진짜 질문: “언제부터 고객 행동의 마찰이 커졌는가?”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고객은 정말 어느 날 갑자기 떠날까요?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대부분의 팀은 이탈을 이미 일어난 뒤에 발견합니다.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월매출이 줄었다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뉴스레터 반응률이 떨어졌다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앱 재방문이 낮아졌다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CRM 쿠폰 효율이 낮아졌다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Active → Cooling → At-risk → Gone 타임라인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오늘 강의가 끝나면 할 수 있어야 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분석의 끝은 리포트가 아니라 개입 타이밍입니다.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전체 평균 리텐션/반응률이 왜 위험한지 설명한다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/ Latency / Tripwire를 구분한다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고객 행동 LifeCycle에서 마찰이 커지는 순간을 찾는다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Mixpanel/BigQuery에서 Recency·Latency 리포트를 설계한다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CRM 캠페인을 Timing × Offer × Profit 관점으로 테스트한다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이탈은 이벤트가 아니라 LifeCycle의 변화다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늦게 보면 Win-back, 일찍 보면 Retention입니다.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고객은 갑자기 사라지지 않습니다.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방문 간격이 길어지고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구매 간격이 늘어나고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클릭/응답이 줄어들고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그 다음에 매출이 줄어듭니다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행동 신호가 먼저 움직이고 매출 지표가 뒤늦게 움직이는 타임라인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Jim Novo의 핵심 전환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“지금 개입하면 돈이 남는가?”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기존 CRM 질문: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바꿔야 할 질문: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그리고 더 중요한 질문: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우리가 너무 늦게 보는 지표들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지표가 움직였을 때는 이미 고객 행동 변화가 진행된 뒤입니다.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팀이 매주 보는 지표: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문제: 이 지표들은 모두 후행 지표입니다.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월매출 / 전체 전환율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전체 캠페인 반응률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전체 활성 사용자 수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전체 리텐션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후행 지표 vs 선행 행동 신호 비교 타임라인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전체 평균은 보고용, 세그먼트는 액션용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평균은 차이를 숨기고, 차이가 돈을 만듭니다.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전체 캠페인 응답률이 10%라고 해도,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그 안에는 완전히 다른 고객들이 섞여 있습니다.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Segment / Response Rate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31–60일 inactive / 20%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61–90일 inactive / 10%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91–120일 inactive / 4%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120일+ inactive / 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오늘의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Define → Segment → Detect → Intervene → Validate → Automate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Define: 행동과 고객 상태를 정의한다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Segment: 시간 기준 bucket을 만든다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Detect: LifeCycle에서 벗어나는 신호를 찾는다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Intervene: Timing × Offer를 설계한다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Validate: Control group과 profit으로 검증한다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Automate: CRM Journey로 운영화한다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261872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490472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947672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6단계 플로우 다이어그램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Define: 정의 없이는 측정도 없다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고객 정의는 산업 평균이 아니라 우리 비즈니스 행동으로 정합니다.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먼저 합의해야 할 것: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“활성 고객”은 어떤 행동을 한 고객인가?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“신규 고객”은 언제까지 신규인가?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“이탈 위험”은 마지막 행동 이후 몇 일인가?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“핵심 행동”은 구매, 방문, 기능 사용, 문의 중 무엇인가?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Recency: 고객의 현재 온도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최근 행동한 고객일수록 다시 행동할 가능성이 높습니다.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= 마지막 행동 이후 경과 시간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예시: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이커머스: 마지막 구매일 이후 경과일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SaaS: 마지막 핵심 기능 사용 이후 경과일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콘텐츠: 마지막 방문/시청 이후 경과일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CRM: 마지막 클릭/응답 이후 경과일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30-60-90: 가장 단순한 시작점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고객을 마지막 행동 기준으로 bucket화합니다.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Bucket / 의미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0–30일 / 매우 최근 행동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31–60일 / 최근 행동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61–90일 / 약한 비활성 신호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91–120일 / 이탈 위험 증가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121–180일 / 강한 이탈 위험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181일+ / 재획득 또는 prospect 후보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Online Retail: 고객 분포만 보면 이미 힌트가 보인다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고객 기반이 “오래된 고객” 쪽으로 밀려가고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Jim Novo의 Online Retail 사례에서 고객 분포는 이렇게 보였습니다.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마지막 구매 이후 / 전체 고객 비중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0–30일 / 3%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31–60일 / 6%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61–90일 / 10%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91–120일 / 14%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121–150일 / 16%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151–180일 / 20%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181일+ / 31%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응답자는 전체 고객과 다르게 생겼다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고객 3%가 응답의 31%를 만들었습니다.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같은 사례에서 newsletter responders를 보면 패턴이 뒤집힙니다.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마지막 구매 이후 / 전체 고객 / 응답자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0–30일 / 3% / 31%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31–60일 / 6% / 18%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61–90일 / 10% / 18%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91–120일 / 14% / 14%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121–150일 / 16% / 10%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151–180일 / 20% / 6%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181일+ / 31% / 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Insight: 반응률은 시간에 따라 미끄러진다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CRM ROI는 “누구에게 보내느냐”보다 “언제, 얼마로 보내느냐”에서 갈립니다.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Recency가 낮아질수록 고객은 더 차갑습니다.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같은 메시지라도 최근 고객이 더 잘 반응합니다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오래된 고객에게 같은 쿠폰을 보내면 예산이 낭비됩니다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너무 최근 고객에게 큰 할인을 주면 margin leakage가 생깁니다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Recency vs Latency: 질문이 다르다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Recency는 반응 가능성을 정렬하고, Latency는 개입 알람을 울립니다.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두 지표 모두 시간 기반이지만, 묻는 질문이 다릅니다.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Recency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Latency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“얼마나 오래 안 왔나?”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고객을 시간 bucket으로 정렬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이커머스·뉴스레터·앱 재방문 분석에 적합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“자기 정상 주기보다 이미 늦었나?”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행동/세그먼트별 기준 필요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Recency 타임라인과 Latency 정상주기 이탈 타임라인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Latency: 고객의 정상 시간표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Latency는 “다음 행동이 정상적으로 일어날 시간”입니다.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Latency = 반복 행동 이벤트 사이의 평균 시간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예시: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1번째 구매 → 2번째 구매까지 평균 21일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2번째 구매 → 3번째 구매까지 평균 45일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가입 → 첫 핵심 기능 사용까지 평균 3일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첫 데모 → 견적 요청까지 평균 14일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Tripwire: 정상 시간표에서 벗어난 순간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Tripwire는 “할인 발송 버튼”이 아니라 “개입 검토 알람”입니다.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Tripwire는 고객이 정상 Latency를 넘었을 때 발생합니다.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예: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평균 2→3번째 구매 Latency가 60일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어떤 고객이 2번째 구매 후 60일을 넘김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이 고객은 평균 LifeCycle에서 벗어난 것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이때가 개입 후보 시점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너무 이르면, 너무 늦으면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Tripwire는 이 “적절한 시점”을 데이터로 정의하는 작업입니다.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개입 타이밍이 전부입니다.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시점 / 결과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너무 이른 개입 / 원래 돌아올 고객에게 할인만 줌 → 마진 손실 + 할인 학습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너무 늦은 개입 / 이미 떠난 고객 Win-back → 비용 높고 반응률 낮음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적절한 개입 / 최소 비용으로 이탈 지연 → CRM ROI 최대화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개입 타이밍 곡선 — 너무 이름 / 최적 / 너무 늦음 구간 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Latency Sequence: 한 번이 아니라 흐름을 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가속이 멈추고 감속이 시작되는 지점이 개입 후보입니다.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고객 행동 사이 간격을 순서대로 보면 LifeCycle이 드러납니다.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행동 간격 / 평균 Latency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1→2번째 행동 / 90일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2→3번째 행동 / 60일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3→4번째 행동 / 30일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4→5번째 행동 / 60일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5→6번째 행동 / 90일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6→7번째 행동 / 120일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Hair Salon 1: 측정 없는 CRM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기준과 시스템이 없으면 좋은 의도도 실행되지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Salon A도 CRM을 합니다.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문제는 마음이 부족한 게 아닙니다.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좋은 고객을 기억합니다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“요즘 안 오네?”라고 느낍니다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전화해야겠다고 생각합니다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바빠서 잊습니다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Hair Salon 2: 측정하면 돈이 보인다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“느낌”이 “손실 금액”으로 바뀌면 우선순위가 생깁니다.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Salon B는 spreadsheet로 high value customer를 측정했습니다.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전체 고객: 200명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High value customer: 전체의 50%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High value 중 30%가 6개월 미방문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전체 고객의 15%가 이미 이탈한 best customer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평균 방문 간격: 예상 30일이 아니라 40일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6개월 손실 매출: $20,250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Hair Salon 3: 평균 40일도 충분하지 않았다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전체 평균은 첫 개선에는 유용하지만, 최적화에는 부족합니다.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40일 초과 고객에게 postcard를 보내자 1/3이 예약했습니다.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하지만 문제가 남았습니다.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재분석 결과: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일부 long cut 고객은 어차피 올 예정이었다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불필요한 할인으로 margin을 잃었다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short cut 고객에게는 40일이 너무 늦었다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Long cut 정상 간격: 75일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Short cut 정상 간격: 20일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Hair Salon 4: 세그먼트별 Tripwire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CRM의 문제는 메시지가 아니라 타이밍이었습니다.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최종 운영 룰: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결과: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Long cut 고객: 75일 초과 시점에 개입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Short cut 고객: 20일 초과 시점에 개입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불필요한 할인 감소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targeted best customer response rate 30% 증가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빈 시간대 예약 예측에도 활용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B2B Software: 재무 문제를 행동 문제로 바꾸기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“고객이 add-on을 다음 단계로 구매하는 데 걸리는 시간이 늘었나?”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상황: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잘못된 질문: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좋은 질문: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Base app 판매는 증가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Add-on 매출은 기대만큼 증가하지 않음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CFO는 원인을 알고 싶음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B2B Software: 평균보다 단계별 Latency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문제는 “전체”가 아니라 후반 add-on adoption에 있었습니다.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전체 평균만 보면 애매합니다.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단계별로 보면 보입니다.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Last year: 8.6주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This year: 8.9주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Add-on 단계 / Last Year / This Year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Base → 1st / 12.3 / 12.1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1st → 2nd / 10.5 / 10.2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2nd → 3rd / 8.7 / 8.9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3rd → 4th / 6.1 / 6.7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B2B Software: 세그먼트가 원인을 드러낸다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Segment를 잘못 잡으면 원인은 평균 속에 숨어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Salesperson별로 쪼개자 Sales #4 고객이 달랐습니다.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기존 평균 add-on interval: 8.6주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Sales #4 고객 평균: 9.8주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전체 add-on purchase cycle 약 4.8주 증가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원인: 신규 세그먼트가 add-on 설치 순서를 바꾸고, 일부 add-on 난이도 때문에 뒤로 미룸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Segment: 무엇으로 쪼갤 것인가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고객의 정상 시간표는 한 개가 아닙니다.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Recency/Latency는 반드시 세그먼트와 함께 봅니다.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첫 구매/첫 사용 product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acquisition source / campaign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salesperson / CSM / channel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plan / pricing tier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category affinity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onboarding path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first experience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Intervene: Timing × Offer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Timing 없이 Offer를 테스트하면 할인 경쟁이 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좋은 CRM은 “누구에게 보낼까?”에서 끝나지 않습니다.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질문을 세 개로 바꿉니다.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어느 Recency/Latency 구간인가?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이 구간에서 어떤 offer가 필요한가?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이 offer는 순이익이 남는가?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Breakeven: 보내도 되는 구간과 아닌 구간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고객이 아니라 캠페인의 경제성이 threshold를 결정합니다.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예: 이 캠페인은 4% response가 나와야 비용을 회수합니다.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Segment / Response Rate / 판단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31–60일 / 20% / 적극 테스트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61–90일 / 10% / 테스트 가능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91–120일 / 4% / breakeven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120일+ / 1% / 같은 캠페인은 중단 후보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Discount Ladder: 더 큰 할인이 항상 답은 아니다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20%는 반응률 winner, 15%는 profit winner입니다.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91–120일 bucket에서 할인율을 테스트합니다.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할인 / Response / Net Profit before Media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5% / 2% / $400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10% / 4% / $640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15% / 6% / $720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20% / 8% / $640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실험의 목표는 반응률이 아니라 순이익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클릭률이 높아도 돈이 안 남으면 실패입니다.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캠페인 계산식: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Gross Profit = Responders × Average Price × Gross Margin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Discount Cost = Responders × Average Price × Discount Rate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Net Profit before Media = Gross Profit − Discount Cost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Incremental Profit = Treatment Profit − Control Profit − Campaign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Validate: Control group을 반드시 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“캠페인을 보냈더니 구매했다.”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CRM 실험에서 가장 위험한 착각: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하지만 일부 고객은 원래 구매했을 수 있습니다.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검증 방식: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bucket별 holdout/control group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Treatment vs Control 구매율/매출/마진 비교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할인 비용과 발송 비용 차감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Incremental profit 기준 winner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Mixpanel 리포트 설계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이 4개 리포트가 있으면 리텐션 CRM의 기반이 갖춰집니다.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4가지 리포트를 설계합니다: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Recency Distribution — 고객 베이스 구조 파악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Response by Recency — 캠페인 성과 구간별 분석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Latency Tripwire — 위험 고객 자동 식별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Milestone Latency — 단계 간 지연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157984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386584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843784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4개 리포트 카드형 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Mixpanel Report 1: Recency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목적: 고객 베이스가 최근 고객 중심인지, 오래된 고객이 쌓이는지 파악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설계: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해석 질문: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Report Type: Insights / User Profile Segmentation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Event: Purchase / App Open / Login / Key Action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Breakdown: days_since_last_event bucket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Visualization: Stacked bar chart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최근 30일 고객 비중은 얼마인가?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261872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490472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947672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Mixpanel Insights 화면 모형 — Recency bucket bar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Mixpanel Report 2: Response by Recency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목적: 전체 캠페인 반응률 뒤에 숨은 구간별 성과 차이 확인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설계: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해석 질문: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Report Type: Insights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Event: Campaign Sent → Click / Purchase / Conversion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Breakdown: Recency bucket at send time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Visualization: Grouped bar chart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구간별 반응률은 어떻게 다른가?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예산을 줄여야 할 구간은?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Mixpanel Report 3: Latency Tripwire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목적: 정상 주기 대비 늦어진 고객을 CRM 자동화 대상으로 식별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설계: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해석 질문: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Report Type: Cohort / Custom Property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Event: Purchase / Booking / Add-on / Key Feature Use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Breakdown: expected_interval_segment + actual_days_since_last_event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Filters: customer_type, product_type, plan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세그먼트별 정상 주기는 얼마인가?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현재 정상 주기를 초과한 고객은 몇 명인가?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Mixpanel Report 4: Milestone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목적: 어느 단계에서 지연이 발생하는지, 어느 세그먼트가 문제인지 확인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Funnel 예시: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Breakdown 기준: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해석 질문: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Signup → Activation → First Value → Add-on Purchase → Renewal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source / salesperson / industry / plan / onboarding path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어느 단계 간격이 길어지고 있는가?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어느 세그먼트에서 문제가 발생하는가?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261872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490472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947672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Funnel + 단계별 평균 일수 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BigQuery 분석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필요한 테이블 구조: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핵심 쿼리: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user_id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event_name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event_time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event_index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previous_event_time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days_since_previous_event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days_since_last_key_event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CRM 자동화 설계 공식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자동화는 발송 룰이 아니라 측정 가능한 개입 시스템입니다.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CRM 자동화를 설계할 때 반드시 5가지를 명확히 합니다: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Trigger — 어떤 행동 조건에서 발동하는가?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Segment — 누구에게 보내는가?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Timing — 언제 보내는가?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Message/Offer — 무엇을 제안하는가?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Measurement — 성공을 무엇으로 판단하는가?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CRM Scenario 1: 이커머스 재구매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항목 / 내용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Trigger / 마지막 구매 후 60일 경과 + 최근 12개월 2회 이상 구매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Segment / 기존 반복 구매 고객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Timing / 60일 후 1차 → 75일 후 2차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Message / 최근 구매 상품 연관 보충/추천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Measurement / 재구매율 / 매출 / 할인 비용 / 순마진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261872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490472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947672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자동화 플로우 다이어그램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CRM Scenario 2: 앱 Activation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항목 / 내용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Trigger / 가입 후 7일 내 핵심 기능 미사용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Segment / 신규 가입자 중 Activation 미완료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Timing / D+3 교육 → D+7 리마인드 → D+10 개인화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Message / 첫 성공 경험을 만드는 짧은 가이드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Measurement / 핵심 기능 사용률 / D7·D14 Retention / 유료 전환율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CRM Scenario 3: B2B SaaS Add-on 지연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항목 / 내용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Trigger / Base 구매 후 평균 Add-on 구매 주기 초과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Segment / 온보딩 완료 계정 중 Add-on 미구매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Timing / 평균 주기 초과 직전 세일즈/CS 알림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Message / 사용 맥락별 Add-on 활용 사례 + ROI 계산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Measurement / Add-on conversion / time-to-add-on / expansion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RFM은 언제 쓰나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RFM은 본편의 다음 단계, 즉 고객 우선순위화 도구입니다.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Recency만으로도 강력하지만,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Frequency와 결합하면 “누구에게 쓸지” 판단이 좋아집니다.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PDF 원문 예시: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상위 quintile은 하위 quintile보다 40배 반응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Frequency 상위 quintile은 하위 quintile보다 9배 반응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TV shopping RF55는 RF11보다 700배 반응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상태보다 방향이 중요하다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CRM은 현재 상태뿐 아니라 변화 방향을 봐야 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같은 RF43이라도 두 고객은 다릅니다.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고객 A는 성장 중일 수 있고,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고객 B는 이탈 진행 중일 수 있습니다.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고객 A: 지난달 RF22 → 이번 달 RF43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고객 B: 지난달 RF55 → 이번 달 RF43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실습 1: 우리 데이터 30-60-90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수강자 과제: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Output: Recency distribution + responder distribution chart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핵심 행동 하나를 고른다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마지막 행동일을 계산한다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30일 단위 bucket을 만든다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전체 고객 분포와 최근 캠페인 응답자 분포를 비교한다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“소수 고객이 다수 반응을 만드는지” 확인한다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실습 2: Latency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수강자 과제: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Output: event sequence interval line chart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반복 행동을 고른다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1→2, 2→3, 3→4 interval을 계산한다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event_index별 평균/중앙값을 본다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segment별로 다시 계산한다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acceleration/deceleration turning point를 찾는다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실습 3: Timing × Offer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수강자 과제: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Output: bucket × offer × profit grid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bucket을 정한다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bucket별 동일 offer response curve를 측정한다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특정 bucket에서 offer ladder를 테스트한다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response winner와 profit winner를 비교한다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profit winner만 automation 후보로 올린다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A/B Test 1: Tripwire 타이밍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5989320" cy="4343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가설: 초기 Tripwire 개입은 늦은 Win-back보다 수익성이 높다.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Target: 반복 구매 고객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Variant A: 60일 경과 시 메시지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Variant B: 90일 경과 시 메시지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Variant C: 120일 경과 시 메시지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KPI: 재구매율 / 할인 비용 / 순마진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Learning: 개입 최적 시점 도출 → Tripwire 기준 업데이트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1261872"/>
            <a:ext cx="4389120" cy="32461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490472"/>
            <a:ext cx="3840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007BFF"/>
                </a:solidFill>
                <a:latin typeface="Pretendard"/>
              </a:rPr>
              <a:t>Visual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947672"/>
            <a:ext cx="3794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0B2D5B"/>
                </a:solidFill>
                <a:latin typeface="Pretendard"/>
              </a:rPr>
              <a:t>60/90/120일 개입 비교 실험 도식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A/B Test 2: 구간별 Offer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61872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가설: Recency 구간별로 최적 Offer가 다르다.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Target: 마지막 구매 후 91~120일 고객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Variant A: 10% 할인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Variant B: 15% 할인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Variant C: 20% 할인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KPI: 구매 전환율 / 할인 비용 / 순이익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Learning: 반응률이 가장 높은 Offer와 수익성 최고 Offer의 차이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흔한 실패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리텐션 자동화는 “설정”이 아니라 “학습 시스템”입니다.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전체 평균 Latency 하나로 모든 고객을 판단한다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오래된 고객에게 더 큰 할인만 준다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최근 고객에게 불필요한 할인을 준다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클릭률/응답률만 보고 승자를 고른다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control group 없이 CRM 성과를 믿는다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한 번 만든 threshold를 계속 고정한다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실무 적용 체크리스트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체크 못 한 항목이 오늘 당장 해야 할 일입니다.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리텐션 CRM 설계 전 확인: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핵심 반복 행동이 정의되어 있는가?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마지막 행동일을 추적하고 있는가?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Recency bucket을 만들 수 있는가?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세그먼트별 정상 주기를 알고 있는가?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Tripwire 기준이 데이터로 검증되었는가?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CRM 메시지와 분석 리포트가 연결되어 있는가?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[ ] KPI가 반응률 외에 순이익·마진까지 포함하는가?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오늘의 핵심 5가지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Data → Insight → Action → Experiment →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이탈은 이벤트가 아니라 프로세스다 — 행동 신호는 먼저 온다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평균은 차이를 숨긴다 — Recency bucket으로 쪼개라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행동을 바꾸려면 행동 변수로 타깃팅해야 한다 — 전체 대상 일괄 발송 금지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리텐션 마케팅은 더 많이 보내는 것이 아니라 더 정확한 시점에 개입하는 것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CRM 자동화는 룰이 아니라 반복 학습 시스템이다 — 측정 없이 자동화 없다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69848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2D5B"/>
                </a:solidFill>
                <a:latin typeface="Pretendard"/>
              </a:rPr>
              <a:t>내일부터 팀에서 해볼 일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83564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0744"/>
            <a:ext cx="102870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100" b="1">
                <a:solidFill>
                  <a:srgbClr val="3B2A00"/>
                </a:solidFill>
                <a:latin typeface="Pretendard"/>
              </a:rPr>
              <a:t>작은 spreadsheet 하나로도 CRM ROI 구조는 바뀔 수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57984"/>
            <a:ext cx="10698480" cy="4251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이번 주 실행 체크리스트: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핵심 행동 1개를 정한다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Recency 30-60-90 분포를 뽑는다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응답자/구매자 분포와 비교한다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반복 행동 Latency sequence를 계산한다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segment별 threshold 후보를 만든다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Timing × Offer × Profit 실험을 설계한다</a:t>
            </a:r>
          </a:p>
          <a:p>
            <a:pPr>
              <a:spcAft>
                <a:spcPts val="800"/>
              </a:spcAft>
              <a:defRPr sz="2100">
                <a:solidFill>
                  <a:srgbClr val="212529"/>
                </a:solidFill>
                <a:latin typeface="Pretendard"/>
              </a:defRPr>
            </a:pPr>
            <a:r>
              <a:t>control group을 반드시 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