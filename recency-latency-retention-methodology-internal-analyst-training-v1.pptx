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D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961120" y="731520"/>
            <a:ext cx="2377440" cy="164592"/>
          </a:xfrm>
          <a:prstGeom prst="round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464040" y="1078992"/>
            <a:ext cx="2377440" cy="164592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966960" y="1426464"/>
            <a:ext cx="2377440" cy="164592"/>
          </a:xfrm>
          <a:prstGeom prst="roundRect">
            <a:avLst/>
          </a:prstGeom>
          <a:solidFill>
            <a:srgbClr val="2EAD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234440"/>
            <a:ext cx="10515600" cy="11430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4300" b="1">
                <a:solidFill>
                  <a:srgbClr val="FFFFFF"/>
                </a:solidFill>
                <a:latin typeface="Pretendard"/>
              </a:rPr>
              <a:t>고객 이탈은 갑자기 일어나지 않는다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50592"/>
            <a:ext cx="9966960" cy="59436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600" b="1">
                <a:solidFill>
                  <a:srgbClr val="D9EAFF"/>
                </a:solidFill>
                <a:latin typeface="Pretendard"/>
              </a:rPr>
              <a:t>내부 분석가를 위한 Recency / Latency 리텐션 분석 방법론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749039"/>
            <a:ext cx="9875520" cy="1280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Pretendard"/>
              </a:defRPr>
            </a:pPr>
            <a:r>
              <a:t>대상: 내부 분석가 / Product Analytics / CRM Analytics / Growth Analytics 담당자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Pretendard"/>
              </a:defRPr>
            </a:pPr>
            <a:r>
              <a:t>형식: 내부 분석가 방법론 교육용 full workshop v3-final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Pretendard"/>
              </a:defRPr>
            </a:pPr>
            <a:r>
              <a:t>기반: 고객 행동 데이터 분석 원문 사례 및 PDF 원문 반영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  <a:latin typeface="Pretendard"/>
              </a:defRPr>
            </a:pPr>
            <a:r>
              <a:t>작성: OCEO 크롱·또롱이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080760"/>
            <a:ext cx="7772400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300" b="1">
                <a:solidFill>
                  <a:srgbClr val="D9EAFF"/>
                </a:solidFill>
                <a:latin typeface="Pretendard"/>
              </a:rPr>
              <a:t>Full Workshop v1 · Internal Analyst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47472"/>
            <a:ext cx="10881360" cy="685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900" b="1">
                <a:solidFill>
                  <a:srgbClr val="0B2D5B"/>
                </a:solidFill>
                <a:latin typeface="Pretendard"/>
              </a:rPr>
              <a:t>오늘의 질문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47548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Pretendard"/>
              </a:rPr>
              <a:t>Internal Analyst Methodology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9966960" cy="3520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고객은 정말 어느 날 갑자기 떠날까요?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대부분의 팀은 이탈을 이미 일어난 뒤에 발견합니다.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월매출이 줄었다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뉴스레터 반응률이 떨어졌다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앱 재방문이 낮아졌다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CRM 쿠폰 효율이 낮아졌다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074920"/>
            <a:ext cx="10652760" cy="658368"/>
          </a:xfrm>
          <a:prstGeom prst="round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5184648"/>
            <a:ext cx="10195560" cy="38404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000" b="1">
                <a:solidFill>
                  <a:srgbClr val="3B2A00"/>
                </a:solidFill>
                <a:latin typeface="Pretendard"/>
              </a:rPr>
              <a:t>진짜 질문: “언제부터 고객 행동의 마찰이 커졌는가?”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47472"/>
            <a:ext cx="10881360" cy="685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900" b="1">
                <a:solidFill>
                  <a:srgbClr val="0B2D5B"/>
                </a:solidFill>
                <a:latin typeface="Pretendard"/>
              </a:rPr>
              <a:t>오늘 강의가 끝나면 할 수 있어야 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47548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Pretendard"/>
              </a:rPr>
              <a:t>Internal Analyst Methodology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9966960" cy="3520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전체 평균 리텐션/반응률이 왜 위험한지 설명한다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Recency / Latency / Tripwire를 구분한다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고객 행동 LifeCycle에서 마찰이 커지는 순간을 찾는다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Mixpanel/BigQuery에서 Recency·Latency 리포트를 설계한다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CRM/리텐션 분석을 Timing × Offer × Profit 관점으로 검증한다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074920"/>
            <a:ext cx="10652760" cy="658368"/>
          </a:xfrm>
          <a:prstGeom prst="round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5184648"/>
            <a:ext cx="10195560" cy="38404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000" b="1">
                <a:solidFill>
                  <a:srgbClr val="3B2A00"/>
                </a:solidFill>
                <a:latin typeface="Pretendard"/>
              </a:rPr>
              <a:t>분석의 끝은 리포트가 아니라 검증 가능한 의사결정입니다.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47472"/>
            <a:ext cx="10881360" cy="685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900" b="1">
                <a:solidFill>
                  <a:srgbClr val="0B2D5B"/>
                </a:solidFill>
                <a:latin typeface="Pretendard"/>
              </a:rPr>
              <a:t>이탈은 이벤트가 아니라 LifeCycle의 변화다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47548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Pretendard"/>
              </a:rPr>
              <a:t>Internal Analyst Methodology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9966960" cy="3520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고객은 갑자기 사라지지 않습니다.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방문 간격이 길어지고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구매 간격이 늘어나고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클릭/응답이 줄어들고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그 다음에 매출이 줄어듭니다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074920"/>
            <a:ext cx="10652760" cy="658368"/>
          </a:xfrm>
          <a:prstGeom prst="round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5184648"/>
            <a:ext cx="10195560" cy="38404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000" b="1">
                <a:solidFill>
                  <a:srgbClr val="3B2A00"/>
                </a:solidFill>
                <a:latin typeface="Pretendard"/>
              </a:rPr>
              <a:t>늦게 보면 Win-back, 일찍 보면 Retention입니다.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47472"/>
            <a:ext cx="10881360" cy="685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900" b="1">
                <a:solidFill>
                  <a:srgbClr val="0B2D5B"/>
                </a:solidFill>
                <a:latin typeface="Pretendard"/>
              </a:rPr>
              <a:t>핵심 전환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47548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Pretendard"/>
              </a:rPr>
              <a:t>Internal Analyst Methodology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600200"/>
            <a:ext cx="10149840" cy="11887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2800" b="1">
                <a:solidFill>
                  <a:srgbClr val="0B2D5B"/>
                </a:solidFill>
                <a:latin typeface="Pretendard"/>
              </a:rPr>
              <a:t>기존 CRM 질문: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389120"/>
            <a:ext cx="10652760" cy="658368"/>
          </a:xfrm>
          <a:prstGeom prst="round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4498848"/>
            <a:ext cx="10195560" cy="38404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000" b="1">
                <a:solidFill>
                  <a:srgbClr val="3B2A00"/>
                </a:solidFill>
                <a:latin typeface="Pretendard"/>
              </a:rPr>
              <a:t>“지금 개입하면 돈이 남는가?”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47472"/>
            <a:ext cx="10881360" cy="685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900" b="1">
                <a:solidFill>
                  <a:srgbClr val="0B2D5B"/>
                </a:solidFill>
                <a:latin typeface="Pretendard"/>
              </a:rPr>
              <a:t>우리가 너무 늦게 보는 지표들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47548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Pretendard"/>
              </a:rPr>
              <a:t>Internal Analyst Methodology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9966960" cy="3520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팀이 매주 보는 지표: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문제: 이 지표들은 모두 후행 지표입니다.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월매출 / 전체 전환율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전체 캠페인 반응률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전체 활성 사용자 수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전체 리텐션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074920"/>
            <a:ext cx="10652760" cy="658368"/>
          </a:xfrm>
          <a:prstGeom prst="round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5184648"/>
            <a:ext cx="10195560" cy="38404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000" b="1">
                <a:solidFill>
                  <a:srgbClr val="3B2A00"/>
                </a:solidFill>
                <a:latin typeface="Pretendard"/>
              </a:rPr>
              <a:t>지표가 움직였을 때는 이미 고객 행동 변화가 진행된 뒤입니다.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47472"/>
            <a:ext cx="10881360" cy="685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900" b="1">
                <a:solidFill>
                  <a:srgbClr val="0B2D5B"/>
                </a:solidFill>
                <a:latin typeface="Pretendard"/>
              </a:rPr>
              <a:t>전체 평균은 보고용, 세그먼트는 액션용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47548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Pretendard"/>
              </a:rPr>
              <a:t>Internal Analyst Methodology Training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325880"/>
          <a:ext cx="105613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0660"/>
                <a:gridCol w="5280660"/>
              </a:tblGrid>
              <a:tr h="694944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Recency Segment</a:t>
                      </a:r>
                    </a:p>
                  </a:txBody>
                  <a:tcPr marL="54864" marR="54864" marT="27432" marB="27432" anchor="ctr"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Response Rate</a:t>
                      </a:r>
                    </a:p>
                  </a:txBody>
                  <a:tcPr marL="54864" marR="54864" marT="27432" marB="27432" anchor="ctr">
                    <a:solidFill>
                      <a:srgbClr val="0B2D5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31–60일 inactive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20%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61–90일 inactive</a:t>
                      </a:r>
                    </a:p>
                  </a:txBody>
                  <a:tcPr marL="54864" marR="54864" marT="27432" marB="27432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10%</a:t>
                      </a:r>
                    </a:p>
                  </a:txBody>
                  <a:tcPr marL="54864" marR="54864" marT="27432" marB="27432" anchor="ctr">
                    <a:solidFill>
                      <a:srgbClr val="F9FAF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91–120일 inactive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4%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120일+ inactive</a:t>
                      </a:r>
                    </a:p>
                  </a:txBody>
                  <a:tcPr marL="54864" marR="54864" marT="27432" marB="27432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1%</a:t>
                      </a:r>
                    </a:p>
                  </a:txBody>
                  <a:tcPr marL="54864" marR="54864" marT="27432" marB="27432" anchor="ctr"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7240" y="5166360"/>
            <a:ext cx="10652760" cy="658368"/>
          </a:xfrm>
          <a:prstGeom prst="round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5276088"/>
            <a:ext cx="10195560" cy="38404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000" b="1">
                <a:solidFill>
                  <a:srgbClr val="3B2A00"/>
                </a:solidFill>
                <a:latin typeface="Pretendard"/>
              </a:rPr>
              <a:t>평균은 차이를 숨기고, 차이가 돈을 만듭니다.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47472"/>
            <a:ext cx="10881360" cy="685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900" b="1">
                <a:solidFill>
                  <a:srgbClr val="0B2D5B"/>
                </a:solidFill>
                <a:latin typeface="Pretendard"/>
              </a:rPr>
              <a:t>오늘의 워크플로우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47548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Pretendard"/>
              </a:rPr>
              <a:t>Internal Analyst Methodology Training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1706880" cy="1051560"/>
          </a:xfrm>
          <a:prstGeom prst="roundRect">
            <a:avLst/>
          </a:prstGeom>
          <a:solidFill>
            <a:srgbClr val="0B2D5B"/>
          </a:solidFill>
          <a:ln>
            <a:solidFill>
              <a:srgbClr val="0B2D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76272"/>
            <a:ext cx="1615440" cy="6400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"/>
              </a:rPr>
              <a:t>Define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0112" y="2359152"/>
            <a:ext cx="182880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2000" b="1">
                <a:solidFill>
                  <a:srgbClr val="6B7280"/>
                </a:solidFill>
                <a:latin typeface="Pretendard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48128" y="2011680"/>
            <a:ext cx="1706880" cy="1051560"/>
          </a:xfrm>
          <a:prstGeom prst="roundRect">
            <a:avLst/>
          </a:prstGeom>
          <a:solidFill>
            <a:srgbClr val="007BFF"/>
          </a:solidFill>
          <a:ln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93848" y="2176272"/>
            <a:ext cx="1615440" cy="6400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"/>
              </a:rPr>
              <a:t>Segment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36720" y="2359152"/>
            <a:ext cx="182880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2000" b="1">
                <a:solidFill>
                  <a:srgbClr val="6B7280"/>
                </a:solidFill>
                <a:latin typeface="Pretendard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4736" y="2011680"/>
            <a:ext cx="1706880" cy="1051560"/>
          </a:xfrm>
          <a:prstGeom prst="roundRect">
            <a:avLst/>
          </a:prstGeom>
          <a:solidFill>
            <a:srgbClr val="FF9900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10456" y="2176272"/>
            <a:ext cx="1615440" cy="6400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"/>
              </a:rPr>
              <a:t>Detect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53328" y="2359152"/>
            <a:ext cx="182880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2000" b="1">
                <a:solidFill>
                  <a:srgbClr val="6B7280"/>
                </a:solidFill>
                <a:latin typeface="Pretendard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81344" y="2011680"/>
            <a:ext cx="1706880" cy="1051560"/>
          </a:xfrm>
          <a:prstGeom prst="roundRect">
            <a:avLst/>
          </a:prstGeom>
          <a:solidFill>
            <a:srgbClr val="2EAD4F"/>
          </a:solidFill>
          <a:ln>
            <a:solidFill>
              <a:srgbClr val="2EAD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27064" y="2176272"/>
            <a:ext cx="1615440" cy="6400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"/>
              </a:rPr>
              <a:t>Intervene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9936" y="2359152"/>
            <a:ext cx="182880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2000" b="1">
                <a:solidFill>
                  <a:srgbClr val="6B7280"/>
                </a:solidFill>
                <a:latin typeface="Pretendard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97952" y="2011680"/>
            <a:ext cx="1706880" cy="1051560"/>
          </a:xfrm>
          <a:prstGeom prst="roundRect">
            <a:avLst/>
          </a:prstGeom>
          <a:solidFill>
            <a:srgbClr val="D93025"/>
          </a:solidFill>
          <a:ln>
            <a:solidFill>
              <a:srgbClr val="D93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3672" y="2176272"/>
            <a:ext cx="1615440" cy="6400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"/>
              </a:rPr>
              <a:t>Validate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86544" y="2359152"/>
            <a:ext cx="182880" cy="27432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2000" b="1">
                <a:solidFill>
                  <a:srgbClr val="6B7280"/>
                </a:solidFill>
                <a:latin typeface="Pretendard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14560" y="2011680"/>
            <a:ext cx="1706880" cy="1051560"/>
          </a:xfrm>
          <a:prstGeom prst="roundRect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60280" y="2176272"/>
            <a:ext cx="1615440" cy="64008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retendard"/>
              </a:rPr>
              <a:t>Automate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5074920"/>
            <a:ext cx="10652760" cy="658368"/>
          </a:xfrm>
          <a:prstGeom prst="round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" y="5184648"/>
            <a:ext cx="10195560" cy="38404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000" b="1">
                <a:solidFill>
                  <a:srgbClr val="3B2A00"/>
                </a:solidFill>
                <a:latin typeface="Pretendard"/>
              </a:rPr>
              <a:t>분석 방법론은 리포트가 아니라 의사결정 루프입니다.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650992"/>
            <a:ext cx="10469880" cy="411480"/>
          </a:xfrm>
          <a:prstGeom prst="roundRect">
            <a:avLst/>
          </a:prstGeom>
          <a:solidFill>
            <a:srgbClr val="EFF6FF"/>
          </a:solidFill>
          <a:ln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/>
            <a:r>
              <a:rPr sz="1100" b="1">
                <a:solidFill>
                  <a:srgbClr val="007BFF"/>
                </a:solidFill>
                <a:latin typeface="Pretendard"/>
              </a:rPr>
              <a:t>Visual: 6단계 플로우 다이어그램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47472"/>
            <a:ext cx="10881360" cy="685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900" b="1">
                <a:solidFill>
                  <a:srgbClr val="0B2D5B"/>
                </a:solidFill>
                <a:latin typeface="Pretendard"/>
              </a:rPr>
              <a:t>Define: 정의 없이는 측정도 없다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47548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Pretendard"/>
              </a:rPr>
              <a:t>Internal Analyst Methodology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9966960" cy="3520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먼저 합의해야 할 것: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“활성 고객”은 어떤 행동을 한 고객인가?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“신규 고객”은 언제까지 신규인가?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“이탈 위험”은 마지막 행동 이후 몇 일인가?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“핵심 행동”은 구매, 방문, 기능 사용, 문의 중 무엇인가?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074920"/>
            <a:ext cx="10652760" cy="658368"/>
          </a:xfrm>
          <a:prstGeom prst="round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5184648"/>
            <a:ext cx="10195560" cy="38404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000" b="1">
                <a:solidFill>
                  <a:srgbClr val="3B2A00"/>
                </a:solidFill>
                <a:latin typeface="Pretendard"/>
              </a:rPr>
              <a:t>고객 정의는 산업 평균이 아니라 우리 비즈니스 행동으로 정합니다.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47472"/>
            <a:ext cx="10881360" cy="685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900" b="1">
                <a:solidFill>
                  <a:srgbClr val="0B2D5B"/>
                </a:solidFill>
                <a:latin typeface="Pretendard"/>
              </a:rPr>
              <a:t>Recency: 고객의 현재 온도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47548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Pretendard"/>
              </a:rPr>
              <a:t>Internal Analyst Methodology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9966960" cy="3520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Recency = 마지막 행동 이후 경과 시간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예시: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이커머스: 마지막 구매일 이후 경과일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SaaS: 마지막 핵심 기능 사용 이후 경과일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콘텐츠: 마지막 방문/시청 이후 경과일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CRM: 마지막 클릭/응답 이후 경과일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074920"/>
            <a:ext cx="10652760" cy="658368"/>
          </a:xfrm>
          <a:prstGeom prst="round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5184648"/>
            <a:ext cx="10195560" cy="38404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000" b="1">
                <a:solidFill>
                  <a:srgbClr val="3B2A00"/>
                </a:solidFill>
                <a:latin typeface="Pretendard"/>
              </a:rPr>
              <a:t>최근 행동한 고객일수록 다시 행동할 가능성이 높습니다.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47472"/>
            <a:ext cx="10881360" cy="685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900" b="1">
                <a:solidFill>
                  <a:srgbClr val="0B2D5B"/>
                </a:solidFill>
                <a:latin typeface="Pretendard"/>
              </a:rPr>
              <a:t>30-60-90: 가장 단순한 시작점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47548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Pretendard"/>
              </a:rPr>
              <a:t>Internal Analyst Methodology Training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965960"/>
            <a:ext cx="3398520" cy="2331720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130552"/>
            <a:ext cx="3069336" cy="38404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2000" b="1">
                <a:solidFill>
                  <a:srgbClr val="0B2D5B"/>
                </a:solidFill>
                <a:latin typeface="Pretendard"/>
              </a:rPr>
              <a:t>Warm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743200"/>
            <a:ext cx="2996184" cy="1371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600" b="0">
                <a:solidFill>
                  <a:srgbClr val="212529"/>
                </a:solidFill>
                <a:latin typeface="Pretendard"/>
              </a:rPr>
              <a:t>0–60일</a:t>
            </a:r>
            <a:br/>
            <a:r>
              <a:rPr sz="1600" b="0">
                <a:solidFill>
                  <a:srgbClr val="212529"/>
                </a:solidFill>
                <a:latin typeface="Pretendard"/>
              </a:rPr>
              <a:t>반응 가능성이 높은 고객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4360" y="1965960"/>
            <a:ext cx="3398520" cy="2331720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8952" y="2130552"/>
            <a:ext cx="3069336" cy="38404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2000" b="1">
                <a:solidFill>
                  <a:srgbClr val="0B2D5B"/>
                </a:solidFill>
                <a:latin typeface="Pretendard"/>
              </a:rPr>
              <a:t>Cooling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5528" y="2743200"/>
            <a:ext cx="2996184" cy="1371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600" b="0">
                <a:solidFill>
                  <a:srgbClr val="212529"/>
                </a:solidFill>
                <a:latin typeface="Pretendard"/>
              </a:rPr>
              <a:t>61–120일</a:t>
            </a:r>
            <a:br/>
            <a:r>
              <a:rPr sz="1600" b="0">
                <a:solidFill>
                  <a:srgbClr val="212529"/>
                </a:solidFill>
                <a:latin typeface="Pretendard"/>
              </a:rPr>
              <a:t>이탈 위험이 커지는 고객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31480" y="1965960"/>
            <a:ext cx="3398520" cy="2331720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96072" y="2130552"/>
            <a:ext cx="3069336" cy="38404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2000" b="1">
                <a:solidFill>
                  <a:srgbClr val="0B2D5B"/>
                </a:solidFill>
                <a:latin typeface="Pretendard"/>
              </a:rPr>
              <a:t>Cold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2648" y="2743200"/>
            <a:ext cx="2996184" cy="1371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600" b="0">
                <a:solidFill>
                  <a:srgbClr val="212529"/>
                </a:solidFill>
                <a:latin typeface="Pretendard"/>
              </a:rPr>
              <a:t>121일+</a:t>
            </a:r>
            <a:br/>
            <a:r>
              <a:rPr sz="1600" b="0">
                <a:solidFill>
                  <a:srgbClr val="212529"/>
                </a:solidFill>
                <a:latin typeface="Pretendard"/>
              </a:rPr>
              <a:t>재획득 또는 별도 offer 후보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074920"/>
            <a:ext cx="10652760" cy="658368"/>
          </a:xfrm>
          <a:prstGeom prst="round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5184648"/>
            <a:ext cx="10195560" cy="38404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000" b="1">
                <a:solidFill>
                  <a:srgbClr val="3B2A00"/>
                </a:solidFill>
                <a:latin typeface="Pretendard"/>
              </a:rPr>
              <a:t>처음에는 단순하게 나누고, 실제 반응률과 profit을 보며 조정합니다.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47472"/>
            <a:ext cx="10881360" cy="685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900" b="1">
                <a:solidFill>
                  <a:srgbClr val="0B2D5B"/>
                </a:solidFill>
                <a:latin typeface="Pretendard"/>
              </a:rPr>
              <a:t>Online Retail: 고객 분포만 보면 이미 힌트가 보인다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47548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Pretendard"/>
              </a:rPr>
              <a:t>Internal Analyst Methodology Training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1280160" y="4219302"/>
            <a:ext cx="3023616" cy="352697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80160" y="3926694"/>
            <a:ext cx="3023616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200" b="1">
                <a:solidFill>
                  <a:srgbClr val="0B2D5B"/>
                </a:solidFill>
                <a:latin typeface="Pretendard"/>
              </a:rPr>
              <a:t>9%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1872" y="4645152"/>
            <a:ext cx="3060192" cy="3200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0">
                <a:solidFill>
                  <a:srgbClr val="212529"/>
                </a:solidFill>
                <a:latin typeface="Pretendard"/>
              </a:rPr>
              <a:t>0–60</a:t>
            </a:r>
          </a:p>
        </p:txBody>
      </p:sp>
      <p:sp>
        <p:nvSpPr>
          <p:cNvPr id="9" name="Rectangle 8"/>
          <p:cNvSpPr/>
          <p:nvPr/>
        </p:nvSpPr>
        <p:spPr>
          <a:xfrm>
            <a:off x="4431792" y="3631474"/>
            <a:ext cx="3023616" cy="940525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1792" y="3338866"/>
            <a:ext cx="3023616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200" b="1">
                <a:solidFill>
                  <a:srgbClr val="0B2D5B"/>
                </a:solidFill>
                <a:latin typeface="Pretendard"/>
              </a:rPr>
              <a:t>24%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3504" y="4645152"/>
            <a:ext cx="3060192" cy="3200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0">
                <a:solidFill>
                  <a:srgbClr val="212529"/>
                </a:solidFill>
                <a:latin typeface="Pretendard"/>
              </a:rPr>
              <a:t>61–120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3424" y="1946365"/>
            <a:ext cx="3023616" cy="2625634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3424" y="1653757"/>
            <a:ext cx="3023616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200" b="1">
                <a:solidFill>
                  <a:srgbClr val="0B2D5B"/>
                </a:solidFill>
                <a:latin typeface="Pretendard"/>
              </a:rPr>
              <a:t>67%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65136" y="4645152"/>
            <a:ext cx="3060192" cy="3200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0">
                <a:solidFill>
                  <a:srgbClr val="212529"/>
                </a:solidFill>
                <a:latin typeface="Pretendard"/>
              </a:rPr>
              <a:t>121+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5074920"/>
            <a:ext cx="10652760" cy="658368"/>
          </a:xfrm>
          <a:prstGeom prst="round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5184648"/>
            <a:ext cx="10195560" cy="38404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000" b="1">
                <a:solidFill>
                  <a:srgbClr val="3B2A00"/>
                </a:solidFill>
                <a:latin typeface="Pretendard"/>
              </a:rPr>
              <a:t>고객 기반이 “오래된 고객” 쪽으로 밀려가고 있습니다.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47472"/>
            <a:ext cx="10881360" cy="685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900" b="1">
                <a:solidFill>
                  <a:srgbClr val="0B2D5B"/>
                </a:solidFill>
                <a:latin typeface="Pretendard"/>
              </a:rPr>
              <a:t>응답자는 전체 고객과 다르게 생겼다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47548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Pretendard"/>
              </a:rPr>
              <a:t>Internal Analyst Methodology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417320"/>
            <a:ext cx="4572000" cy="3200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800" b="1">
                <a:solidFill>
                  <a:srgbClr val="0B2D5B"/>
                </a:solidFill>
                <a:latin typeface="Pretendard"/>
              </a:rPr>
              <a:t>전체 고객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4152289"/>
            <a:ext cx="1408176" cy="145389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3859681"/>
            <a:ext cx="1408176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200" b="1">
                <a:solidFill>
                  <a:srgbClr val="0B2D5B"/>
                </a:solidFill>
                <a:latin typeface="Pretendard"/>
              </a:rPr>
              <a:t>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4370831"/>
            <a:ext cx="1444752" cy="3200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0">
                <a:solidFill>
                  <a:srgbClr val="212529"/>
                </a:solidFill>
                <a:latin typeface="Pretendard"/>
              </a:rPr>
              <a:t>0–30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33472" y="3861510"/>
            <a:ext cx="1408176" cy="436168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33472" y="3568902"/>
            <a:ext cx="1408176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200" b="1">
                <a:solidFill>
                  <a:srgbClr val="0B2D5B"/>
                </a:solidFill>
                <a:latin typeface="Pretendard"/>
              </a:rPr>
              <a:t>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5184" y="4370831"/>
            <a:ext cx="1444752" cy="3200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0">
                <a:solidFill>
                  <a:srgbClr val="212529"/>
                </a:solidFill>
                <a:latin typeface="Pretendard"/>
              </a:rPr>
              <a:t>0–60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69664" y="2795319"/>
            <a:ext cx="1408176" cy="1502359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69664" y="2502711"/>
            <a:ext cx="1408176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200" b="1">
                <a:solidFill>
                  <a:srgbClr val="0B2D5B"/>
                </a:solidFill>
                <a:latin typeface="Pretendard"/>
              </a:rPr>
              <a:t>31%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51376" y="4370831"/>
            <a:ext cx="1444752" cy="3200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0">
                <a:solidFill>
                  <a:srgbClr val="212529"/>
                </a:solidFill>
                <a:latin typeface="Pretendard"/>
              </a:rPr>
              <a:t>181+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417320"/>
            <a:ext cx="4572000" cy="3200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800" b="1">
                <a:solidFill>
                  <a:srgbClr val="0B2D5B"/>
                </a:solidFill>
                <a:latin typeface="Pretendard"/>
              </a:rPr>
              <a:t>응답자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795319"/>
            <a:ext cx="1408176" cy="1502359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2502711"/>
            <a:ext cx="1408176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200" b="1">
                <a:solidFill>
                  <a:srgbClr val="0B2D5B"/>
                </a:solidFill>
                <a:latin typeface="Pretendard"/>
              </a:rPr>
              <a:t>31%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4370831"/>
            <a:ext cx="1444752" cy="3200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0">
                <a:solidFill>
                  <a:srgbClr val="212529"/>
                </a:solidFill>
                <a:latin typeface="Pretendard"/>
              </a:rPr>
              <a:t>0–30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36992" y="1922982"/>
            <a:ext cx="1408176" cy="2374696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36992" y="1630374"/>
            <a:ext cx="1408176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200" b="1">
                <a:solidFill>
                  <a:srgbClr val="0B2D5B"/>
                </a:solidFill>
                <a:latin typeface="Pretendard"/>
              </a:rPr>
              <a:t>49%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18704" y="4370831"/>
            <a:ext cx="1444752" cy="3200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0">
                <a:solidFill>
                  <a:srgbClr val="212529"/>
                </a:solidFill>
                <a:latin typeface="Pretendard"/>
              </a:rPr>
              <a:t>0–60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73184" y="4152289"/>
            <a:ext cx="1408176" cy="145389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73184" y="3859681"/>
            <a:ext cx="1408176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200" b="1">
                <a:solidFill>
                  <a:srgbClr val="0B2D5B"/>
                </a:solidFill>
                <a:latin typeface="Pretendard"/>
              </a:rPr>
              <a:t>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54896" y="4370831"/>
            <a:ext cx="1444752" cy="3200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0">
                <a:solidFill>
                  <a:srgbClr val="212529"/>
                </a:solidFill>
                <a:latin typeface="Pretendard"/>
              </a:rPr>
              <a:t>181+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5074920"/>
            <a:ext cx="10652760" cy="658368"/>
          </a:xfrm>
          <a:prstGeom prst="round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5184648"/>
            <a:ext cx="10195560" cy="38404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000" b="1">
                <a:solidFill>
                  <a:srgbClr val="3B2A00"/>
                </a:solidFill>
                <a:latin typeface="Pretendard"/>
              </a:rPr>
              <a:t>고객 3%가 응답의 31%를 만들었습니다.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47472"/>
            <a:ext cx="10881360" cy="685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900" b="1">
                <a:solidFill>
                  <a:srgbClr val="0B2D5B"/>
                </a:solidFill>
                <a:latin typeface="Pretendard"/>
              </a:rPr>
              <a:t>Insight: 반응률은 시간에 따라 미끄러진다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47548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Pretendard"/>
              </a:rPr>
              <a:t>Internal Analyst Methodology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9966960" cy="3520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Recency가 낮아질수록 고객은 더 차갑습니다.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같은 메시지라도 최근 고객이 더 잘 반응합니다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오래된 고객에게 같은 쿠폰을 보내면 예산이 낭비됩니다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너무 최근 고객에게 큰 할인을 주면 margin leakage가 생깁니다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074920"/>
            <a:ext cx="10652760" cy="658368"/>
          </a:xfrm>
          <a:prstGeom prst="round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5184648"/>
            <a:ext cx="10195560" cy="38404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000" b="1">
                <a:solidFill>
                  <a:srgbClr val="3B2A00"/>
                </a:solidFill>
                <a:latin typeface="Pretendard"/>
              </a:rPr>
              <a:t>CRM ROI는 “누구에게 보내느냐”보다 “언제, 얼마로 보내느냐”에서 갈립니다.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47472"/>
            <a:ext cx="10881360" cy="685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900" b="1">
                <a:solidFill>
                  <a:srgbClr val="0B2D5B"/>
                </a:solidFill>
                <a:latin typeface="Pretendard"/>
              </a:rPr>
              <a:t>Recency vs Latency: 질문이 다르다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47548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Pretendard"/>
              </a:rPr>
              <a:t>Internal Analyst Methodology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9966960" cy="3520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두 지표 모두 시간 기반이지만, 묻는 질문이 다릅니다.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Recency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Latency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“얼마나 오래 안 왔나?”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고객을 시간 bucket으로 정렬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이커머스·뉴스레터·앱 재방문 분석에 적합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“자기 정상 주기보다 이미 늦었나?”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행동/세그먼트별 기준 필요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B2B·온보딩·예약·Add-on 분석에 적합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074920"/>
            <a:ext cx="10652760" cy="658368"/>
          </a:xfrm>
          <a:prstGeom prst="round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5184648"/>
            <a:ext cx="10195560" cy="38404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000" b="1">
                <a:solidFill>
                  <a:srgbClr val="3B2A00"/>
                </a:solidFill>
                <a:latin typeface="Pretendard"/>
              </a:rPr>
              <a:t>Recency는 반응 가능성을 정렬하고, Latency는 개입 알람을 울립니다.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47472"/>
            <a:ext cx="10881360" cy="685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900" b="1">
                <a:solidFill>
                  <a:srgbClr val="0B2D5B"/>
                </a:solidFill>
                <a:latin typeface="Pretendard"/>
              </a:rPr>
              <a:t>Latency: 고객의 정상 시간표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47548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Pretendard"/>
              </a:rPr>
              <a:t>Internal Analyst Methodology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9966960" cy="3520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Latency = 반복 행동 이벤트 사이의 평균 시간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예시: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1번째 구매 → 2번째 구매까지 평균 21일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2번째 구매 → 3번째 구매까지 평균 45일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가입 → 첫 핵심 기능 사용까지 평균 3일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첫 데모 → 견적 요청까지 평균 14일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074920"/>
            <a:ext cx="10652760" cy="658368"/>
          </a:xfrm>
          <a:prstGeom prst="round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5184648"/>
            <a:ext cx="10195560" cy="38404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000" b="1">
                <a:solidFill>
                  <a:srgbClr val="3B2A00"/>
                </a:solidFill>
                <a:latin typeface="Pretendard"/>
              </a:rPr>
              <a:t>Latency는 “다음 행동이 정상적으로 일어날 시간”입니다.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47472"/>
            <a:ext cx="10881360" cy="685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900" b="1">
                <a:solidFill>
                  <a:srgbClr val="0B2D5B"/>
                </a:solidFill>
                <a:latin typeface="Pretendard"/>
              </a:rPr>
              <a:t>Tripwire: 정상 시간표에서 벗어난 순간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47548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Pretendard"/>
              </a:rPr>
              <a:t>Internal Analyst Methodology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9966960" cy="3520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Tripwire는 고객이 정상 Latency를 넘었을 때 발생합니다.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예: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평균 2→3번째 구매 Latency가 60일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어떤 고객이 2번째 구매 후 60일을 넘김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이 고객은 평균 LifeCycle에서 벗어난 것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이때가 개입 후보 시점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074920"/>
            <a:ext cx="10652760" cy="658368"/>
          </a:xfrm>
          <a:prstGeom prst="round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5184648"/>
            <a:ext cx="10195560" cy="38404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000" b="1">
                <a:solidFill>
                  <a:srgbClr val="3B2A00"/>
                </a:solidFill>
                <a:latin typeface="Pretendard"/>
              </a:rPr>
              <a:t>Tripwire는 “할인 발송 버튼”이 아니라 “개입 검토 알람”입니다.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47472"/>
            <a:ext cx="10881360" cy="685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900" b="1">
                <a:solidFill>
                  <a:srgbClr val="0B2D5B"/>
                </a:solidFill>
                <a:latin typeface="Pretendard"/>
              </a:rPr>
              <a:t>너무 이르면, 너무 늦으면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47548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Pretendard"/>
              </a:rPr>
              <a:t>Internal Analyst Methodology Training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325880"/>
          <a:ext cx="105613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0660"/>
                <a:gridCol w="5280660"/>
              </a:tblGrid>
              <a:tr h="8686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시점</a:t>
                      </a:r>
                    </a:p>
                  </a:txBody>
                  <a:tcPr marL="54864" marR="54864" marT="27432" marB="27432" anchor="ctr"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결과</a:t>
                      </a:r>
                    </a:p>
                  </a:txBody>
                  <a:tcPr marL="54864" marR="54864" marT="27432" marB="27432" anchor="ctr">
                    <a:solidFill>
                      <a:srgbClr val="0B2D5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너무 이른 개입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원래 돌아올 고객에게 할인만 줌 → 마진 손실 + 할인 학습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너무 늦은 개입</a:t>
                      </a:r>
                    </a:p>
                  </a:txBody>
                  <a:tcPr marL="54864" marR="54864" marT="27432" marB="27432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이미 떠난 고객 Win-back → 비용 높고 반응률 낮음</a:t>
                      </a:r>
                    </a:p>
                  </a:txBody>
                  <a:tcPr marL="54864" marR="54864" marT="27432" marB="27432" anchor="ctr">
                    <a:solidFill>
                      <a:srgbClr val="F9FAF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적절한 개입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최소 비용으로 이탈 지연 → CRM ROI 최대화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7240" y="5166360"/>
            <a:ext cx="10652760" cy="658368"/>
          </a:xfrm>
          <a:prstGeom prst="round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5276088"/>
            <a:ext cx="10195560" cy="38404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000" b="1">
                <a:solidFill>
                  <a:srgbClr val="3B2A00"/>
                </a:solidFill>
                <a:latin typeface="Pretendard"/>
              </a:rPr>
              <a:t>Tripwire는 이 “적절한 시점”을 데이터로 정의하는 작업입니다.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47472"/>
            <a:ext cx="10881360" cy="685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900" b="1">
                <a:solidFill>
                  <a:srgbClr val="0B2D5B"/>
                </a:solidFill>
                <a:latin typeface="Pretendard"/>
              </a:rPr>
              <a:t>Latency Sequence: 한 번이 아니라 흐름을 본다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47548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Pretendard"/>
              </a:rPr>
              <a:t>Internal Analyst Methodology Training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389120"/>
            <a:ext cx="9966960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1832" y="2552582"/>
            <a:ext cx="128016" cy="128016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32542"/>
            <a:ext cx="54864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1">
                <a:solidFill>
                  <a:srgbClr val="0B2D5B"/>
                </a:solidFill>
                <a:latin typeface="Pretendard"/>
              </a:rPr>
              <a:t>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80560"/>
            <a:ext cx="54864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0">
                <a:solidFill>
                  <a:srgbClr val="212529"/>
                </a:solidFill>
                <a:latin typeface="Pretendard"/>
              </a:rPr>
              <a:t>1→2</a:t>
            </a:r>
          </a:p>
        </p:txBody>
      </p:sp>
      <p:sp>
        <p:nvSpPr>
          <p:cNvPr id="10" name="Oval 9"/>
          <p:cNvSpPr/>
          <p:nvPr/>
        </p:nvSpPr>
        <p:spPr>
          <a:xfrm>
            <a:off x="2935224" y="3143425"/>
            <a:ext cx="128016" cy="128016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24912" y="2823385"/>
            <a:ext cx="54864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1">
                <a:solidFill>
                  <a:srgbClr val="0B2D5B"/>
                </a:solidFill>
                <a:latin typeface="Pretendard"/>
              </a:rPr>
              <a:t>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4912" y="4480560"/>
            <a:ext cx="54864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0">
                <a:solidFill>
                  <a:srgbClr val="212529"/>
                </a:solidFill>
                <a:latin typeface="Pretendard"/>
              </a:rPr>
              <a:t>2→3</a:t>
            </a:r>
          </a:p>
        </p:txBody>
      </p:sp>
      <p:sp>
        <p:nvSpPr>
          <p:cNvPr id="13" name="Oval 12"/>
          <p:cNvSpPr/>
          <p:nvPr/>
        </p:nvSpPr>
        <p:spPr>
          <a:xfrm>
            <a:off x="4928616" y="3734268"/>
            <a:ext cx="128016" cy="128016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18304" y="3414228"/>
            <a:ext cx="54864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1">
                <a:solidFill>
                  <a:srgbClr val="0B2D5B"/>
                </a:solidFill>
                <a:latin typeface="Pretendard"/>
              </a:rPr>
              <a:t>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18304" y="4480560"/>
            <a:ext cx="54864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0">
                <a:solidFill>
                  <a:srgbClr val="212529"/>
                </a:solidFill>
                <a:latin typeface="Pretendard"/>
              </a:rPr>
              <a:t>3→4</a:t>
            </a:r>
          </a:p>
        </p:txBody>
      </p:sp>
      <p:sp>
        <p:nvSpPr>
          <p:cNvPr id="16" name="Oval 15"/>
          <p:cNvSpPr/>
          <p:nvPr/>
        </p:nvSpPr>
        <p:spPr>
          <a:xfrm>
            <a:off x="6922008" y="3143425"/>
            <a:ext cx="128016" cy="128016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11696" y="2823385"/>
            <a:ext cx="54864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1">
                <a:solidFill>
                  <a:srgbClr val="0B2D5B"/>
                </a:solidFill>
                <a:latin typeface="Pretendard"/>
              </a:rPr>
              <a:t>60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11696" y="4480560"/>
            <a:ext cx="54864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0">
                <a:solidFill>
                  <a:srgbClr val="212529"/>
                </a:solidFill>
                <a:latin typeface="Pretendard"/>
              </a:rPr>
              <a:t>4→5</a:t>
            </a:r>
          </a:p>
        </p:txBody>
      </p:sp>
      <p:sp>
        <p:nvSpPr>
          <p:cNvPr id="19" name="Oval 18"/>
          <p:cNvSpPr/>
          <p:nvPr/>
        </p:nvSpPr>
        <p:spPr>
          <a:xfrm>
            <a:off x="8915400" y="2552582"/>
            <a:ext cx="128016" cy="128016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05088" y="2232542"/>
            <a:ext cx="54864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1">
                <a:solidFill>
                  <a:srgbClr val="0B2D5B"/>
                </a:solidFill>
                <a:latin typeface="Pretendard"/>
              </a:rPr>
              <a:t>90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05088" y="4480560"/>
            <a:ext cx="54864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0">
                <a:solidFill>
                  <a:srgbClr val="212529"/>
                </a:solidFill>
                <a:latin typeface="Pretendard"/>
              </a:rPr>
              <a:t>5→6</a:t>
            </a:r>
          </a:p>
        </p:txBody>
      </p:sp>
      <p:sp>
        <p:nvSpPr>
          <p:cNvPr id="22" name="Oval 21"/>
          <p:cNvSpPr/>
          <p:nvPr/>
        </p:nvSpPr>
        <p:spPr>
          <a:xfrm>
            <a:off x="10908792" y="1961739"/>
            <a:ext cx="128016" cy="128016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98480" y="1641699"/>
            <a:ext cx="54864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1">
                <a:solidFill>
                  <a:srgbClr val="0B2D5B"/>
                </a:solidFill>
                <a:latin typeface="Pretendard"/>
              </a:rPr>
              <a:t>120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4480560"/>
            <a:ext cx="54864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0">
                <a:solidFill>
                  <a:srgbClr val="212529"/>
                </a:solidFill>
                <a:latin typeface="Pretendard"/>
              </a:rPr>
              <a:t>6→7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7960" y="2011680"/>
            <a:ext cx="2194560" cy="502920"/>
          </a:xfrm>
          <a:prstGeom prst="roundRect">
            <a:avLst/>
          </a:prstGeom>
          <a:solidFill>
            <a:srgbClr val="FFF7E6"/>
          </a:solidFill>
          <a:ln>
            <a:solidFill>
              <a:srgbClr val="FFF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800" b="1">
                <a:solidFill>
                  <a:srgbClr val="FF9900"/>
                </a:solidFill>
                <a:latin typeface="Pretendard"/>
              </a:rPr>
              <a:t>Turning Point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5074920"/>
            <a:ext cx="10652760" cy="658368"/>
          </a:xfrm>
          <a:prstGeom prst="round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7552" y="5184648"/>
            <a:ext cx="10195560" cy="38404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000" b="1">
                <a:solidFill>
                  <a:srgbClr val="3B2A00"/>
                </a:solidFill>
                <a:latin typeface="Pretendard"/>
              </a:rPr>
              <a:t>가속이 멈추고 감속이 시작되는 지점이 개입 후보입니다.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47472"/>
            <a:ext cx="10881360" cy="685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900" b="1">
                <a:solidFill>
                  <a:srgbClr val="0B2D5B"/>
                </a:solidFill>
                <a:latin typeface="Pretendard"/>
              </a:rPr>
              <a:t>Hair Salon 1: 측정 없는 CRM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47548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Pretendard"/>
              </a:rPr>
              <a:t>Internal Analyst Methodology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9966960" cy="3520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Salon A도 CRM을 합니다.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문제는 마음이 부족한 게 아닙니다.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좋은 고객을 기억합니다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“요즘 안 오네?”라고 느낍니다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전화해야겠다고 생각합니다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바빠서 잊습니다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074920"/>
            <a:ext cx="10652760" cy="658368"/>
          </a:xfrm>
          <a:prstGeom prst="round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5184648"/>
            <a:ext cx="10195560" cy="38404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000" b="1">
                <a:solidFill>
                  <a:srgbClr val="3B2A00"/>
                </a:solidFill>
                <a:latin typeface="Pretendard"/>
              </a:rPr>
              <a:t>기준과 시스템이 없으면 좋은 의도도 실행되지 않습니다.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47472"/>
            <a:ext cx="10881360" cy="685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900" b="1">
                <a:solidFill>
                  <a:srgbClr val="0B2D5B"/>
                </a:solidFill>
                <a:latin typeface="Pretendard"/>
              </a:rPr>
              <a:t>Hair Salon 2: 측정하면 돈이 보인다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47548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Pretendard"/>
              </a:rPr>
              <a:t>Internal Analyst Methodology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9966960" cy="3520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Salon B는 spreadsheet로 high value customer를 측정했습니다.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전체 고객: 200명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High value customer: 전체의 50%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High value 중 30%가 6개월 미방문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전체 고객의 15%가 이미 이탈한 best customer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평균 방문 간격: 예상 30일이 아니라 40일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6개월 손실 매출: $20,250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074920"/>
            <a:ext cx="10652760" cy="658368"/>
          </a:xfrm>
          <a:prstGeom prst="round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5184648"/>
            <a:ext cx="10195560" cy="38404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000" b="1">
                <a:solidFill>
                  <a:srgbClr val="3B2A00"/>
                </a:solidFill>
                <a:latin typeface="Pretendard"/>
              </a:rPr>
              <a:t>“느낌”이 “손실 금액”으로 바뀌면 우선순위가 생깁니다.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47472"/>
            <a:ext cx="10881360" cy="685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900" b="1">
                <a:solidFill>
                  <a:srgbClr val="0B2D5B"/>
                </a:solidFill>
                <a:latin typeface="Pretendard"/>
              </a:rPr>
              <a:t>Hair Salon 3: 평균 40일도 충분하지 않았다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47548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Pretendard"/>
              </a:rPr>
              <a:t>Internal Analyst Methodology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9966960" cy="3520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40일 초과 고객에게 postcard를 보내자 1/3이 예약했습니다.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하지만 문제가 남았습니다.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재분석 결과: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일부 long cut 고객은 어차피 올 예정이었다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불필요한 할인으로 margin을 잃었다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short cut 고객에게는 40일이 너무 늦었다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Long cut 정상 간격: 75일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Short cut 정상 간격: 20일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074920"/>
            <a:ext cx="10652760" cy="658368"/>
          </a:xfrm>
          <a:prstGeom prst="round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5184648"/>
            <a:ext cx="10195560" cy="38404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000" b="1">
                <a:solidFill>
                  <a:srgbClr val="3B2A00"/>
                </a:solidFill>
                <a:latin typeface="Pretendard"/>
              </a:rPr>
              <a:t>전체 평균은 첫 개선에는 유용하지만, 최적화에는 부족합니다.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47472"/>
            <a:ext cx="10881360" cy="685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900" b="1">
                <a:solidFill>
                  <a:srgbClr val="0B2D5B"/>
                </a:solidFill>
                <a:latin typeface="Pretendard"/>
              </a:rPr>
              <a:t>Hair Salon 4: 세그먼트별 Tripwire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47548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Pretendard"/>
              </a:rPr>
              <a:t>Internal Analyst Methodology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9966960" cy="3520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최종 운영 룰: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결과: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Long cut 고객: 75일 초과 시점에 개입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Short cut 고객: 20일 초과 시점에 개입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불필요한 할인 감소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targeted best customer response rate 30% 증가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빈 시간대 예약 예측에도 활용 가능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074920"/>
            <a:ext cx="10652760" cy="658368"/>
          </a:xfrm>
          <a:prstGeom prst="round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5184648"/>
            <a:ext cx="10195560" cy="38404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000" b="1">
                <a:solidFill>
                  <a:srgbClr val="3B2A00"/>
                </a:solidFill>
                <a:latin typeface="Pretendard"/>
              </a:rPr>
              <a:t>CRM의 문제는 메시지가 아니라 타이밍이었습니다.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47472"/>
            <a:ext cx="10881360" cy="685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900" b="1">
                <a:solidFill>
                  <a:srgbClr val="0B2D5B"/>
                </a:solidFill>
                <a:latin typeface="Pretendard"/>
              </a:rPr>
              <a:t>B2B Software: 재무 문제를 행동 문제로 바꾸기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47548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Pretendard"/>
              </a:rPr>
              <a:t>Internal Analyst Methodology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9966960" cy="3520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상황: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잘못된 질문: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좋은 질문: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Base app 판매는 증가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Add-on 매출은 기대만큼 증가하지 않음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CFO는 원인을 알고 싶음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074920"/>
            <a:ext cx="10652760" cy="658368"/>
          </a:xfrm>
          <a:prstGeom prst="round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5184648"/>
            <a:ext cx="10195560" cy="38404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000" b="1">
                <a:solidFill>
                  <a:srgbClr val="3B2A00"/>
                </a:solidFill>
                <a:latin typeface="Pretendard"/>
              </a:rPr>
              <a:t>“고객이 add-on을 다음 단계로 구매하는 데 걸리는 시간이 늘었나?”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47472"/>
            <a:ext cx="10881360" cy="685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900" b="1">
                <a:solidFill>
                  <a:srgbClr val="0B2D5B"/>
                </a:solidFill>
                <a:latin typeface="Pretendard"/>
              </a:rPr>
              <a:t>B2B Software: 평균보다 단계별 Latency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47548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Pretendard"/>
              </a:rPr>
              <a:t>Internal Analyst Methodology Training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325880"/>
          <a:ext cx="105613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0440"/>
                <a:gridCol w="3520440"/>
                <a:gridCol w="3520440"/>
              </a:tblGrid>
              <a:tr h="5791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Add-on 단계</a:t>
                      </a:r>
                    </a:p>
                  </a:txBody>
                  <a:tcPr marL="54864" marR="54864" marT="27432" marB="27432" anchor="ctr"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Last Year</a:t>
                      </a:r>
                    </a:p>
                  </a:txBody>
                  <a:tcPr marL="54864" marR="54864" marT="27432" marB="27432" anchor="ctr"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This Year</a:t>
                      </a:r>
                    </a:p>
                  </a:txBody>
                  <a:tcPr marL="54864" marR="54864" marT="27432" marB="27432" anchor="ctr">
                    <a:solidFill>
                      <a:srgbClr val="0B2D5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Base → 1st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12.3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12.1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1st → 2nd</a:t>
                      </a:r>
                    </a:p>
                  </a:txBody>
                  <a:tcPr marL="54864" marR="54864" marT="27432" marB="27432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10.5</a:t>
                      </a:r>
                    </a:p>
                  </a:txBody>
                  <a:tcPr marL="54864" marR="54864" marT="27432" marB="27432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10.2</a:t>
                      </a:r>
                    </a:p>
                  </a:txBody>
                  <a:tcPr marL="54864" marR="54864" marT="27432" marB="27432" anchor="ctr">
                    <a:solidFill>
                      <a:srgbClr val="F9FAF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2nd → 3rd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8.7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8.9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3rd → 4th</a:t>
                      </a:r>
                    </a:p>
                  </a:txBody>
                  <a:tcPr marL="54864" marR="54864" marT="27432" marB="27432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6.1</a:t>
                      </a:r>
                    </a:p>
                  </a:txBody>
                  <a:tcPr marL="54864" marR="54864" marT="27432" marB="27432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6.7</a:t>
                      </a:r>
                    </a:p>
                  </a:txBody>
                  <a:tcPr marL="54864" marR="54864" marT="27432" marB="27432" anchor="ctr">
                    <a:solidFill>
                      <a:srgbClr val="F9FAF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4th → 5th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5.2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6.5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7240" y="5166360"/>
            <a:ext cx="10652760" cy="658368"/>
          </a:xfrm>
          <a:prstGeom prst="round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5276088"/>
            <a:ext cx="10195560" cy="38404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000" b="1">
                <a:solidFill>
                  <a:srgbClr val="3B2A00"/>
                </a:solidFill>
                <a:latin typeface="Pretendard"/>
              </a:rPr>
              <a:t>문제는 “전체”가 아니라 후반 add-on adoption에 있었습니다.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47472"/>
            <a:ext cx="10881360" cy="685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900" b="1">
                <a:solidFill>
                  <a:srgbClr val="0B2D5B"/>
                </a:solidFill>
                <a:latin typeface="Pretendard"/>
              </a:rPr>
              <a:t>B2B Software: 세그먼트가 원인을 드러낸다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47548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Pretendard"/>
              </a:rPr>
              <a:t>Internal Analyst Methodology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9966960" cy="3520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Salesperson별로 쪼개자 Sales #4 고객이 달랐습니다.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기존 평균 add-on interval: 8.6주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Sales #4 고객 평균: 9.8주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전체 add-on purchase cycle 약 4.8주 증가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원인: 신규 세그먼트가 add-on 설치 순서를 바꾸고, 일부 add-on 난이도 때문에 뒤로 미룸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074920"/>
            <a:ext cx="10652760" cy="658368"/>
          </a:xfrm>
          <a:prstGeom prst="round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5184648"/>
            <a:ext cx="10195560" cy="38404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000" b="1">
                <a:solidFill>
                  <a:srgbClr val="3B2A00"/>
                </a:solidFill>
                <a:latin typeface="Pretendard"/>
              </a:rPr>
              <a:t>Segment를 잘못 잡으면 원인은 평균 속에 숨어 있습니다.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47472"/>
            <a:ext cx="10881360" cy="685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900" b="1">
                <a:solidFill>
                  <a:srgbClr val="0B2D5B"/>
                </a:solidFill>
                <a:latin typeface="Pretendard"/>
              </a:rPr>
              <a:t>Segment: 무엇으로 쪼갤 것인가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47548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Pretendard"/>
              </a:rPr>
              <a:t>Internal Analyst Methodology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9966960" cy="3520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Recency/Latency는 반드시 세그먼트와 함께 봅니다.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첫 구매/첫 사용 product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acquisition source / campaign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salesperson / CSM / channel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plan / pricing tier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category affinity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onboarding path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first experience quality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074920"/>
            <a:ext cx="10652760" cy="658368"/>
          </a:xfrm>
          <a:prstGeom prst="round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5184648"/>
            <a:ext cx="10195560" cy="38404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000" b="1">
                <a:solidFill>
                  <a:srgbClr val="3B2A00"/>
                </a:solidFill>
                <a:latin typeface="Pretendard"/>
              </a:rPr>
              <a:t>고객의 정상 시간표는 한 개가 아닙니다.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47472"/>
            <a:ext cx="10881360" cy="685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900" b="1">
                <a:solidFill>
                  <a:srgbClr val="0B2D5B"/>
                </a:solidFill>
                <a:latin typeface="Pretendard"/>
              </a:rPr>
              <a:t>Intervene: Timing × Offer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47548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Pretendard"/>
              </a:rPr>
              <a:t>Internal Analyst Methodology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9966960" cy="3520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좋은 CRM은 “누구에게 보낼까?”에서 끝나지 않습니다.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질문을 세 개로 바꿉니다.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어느 Recency/Latency 구간인가?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이 구간에서 어떤 offer가 필요한가?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이 offer는 순이익이 남는가?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074920"/>
            <a:ext cx="10652760" cy="658368"/>
          </a:xfrm>
          <a:prstGeom prst="round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5184648"/>
            <a:ext cx="10195560" cy="38404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000" b="1">
                <a:solidFill>
                  <a:srgbClr val="3B2A00"/>
                </a:solidFill>
                <a:latin typeface="Pretendard"/>
              </a:rPr>
              <a:t>Timing 없이 Offer를 테스트하면 할인 경쟁이 됩니다.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47472"/>
            <a:ext cx="10881360" cy="685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900" b="1">
                <a:solidFill>
                  <a:srgbClr val="0B2D5B"/>
                </a:solidFill>
                <a:latin typeface="Pretendard"/>
              </a:rPr>
              <a:t>Breakeven: 보내도 되는 구간과 아닌 구간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47548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Pretendard"/>
              </a:rPr>
              <a:t>Internal Analyst Methodology Training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325880"/>
          <a:ext cx="105613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0440"/>
                <a:gridCol w="3520440"/>
                <a:gridCol w="3520440"/>
              </a:tblGrid>
              <a:tr h="694944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Recency Segment</a:t>
                      </a:r>
                    </a:p>
                  </a:txBody>
                  <a:tcPr marL="54864" marR="54864" marT="27432" marB="27432" anchor="ctr"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Response Rate</a:t>
                      </a:r>
                    </a:p>
                  </a:txBody>
                  <a:tcPr marL="54864" marR="54864" marT="27432" marB="27432" anchor="ctr"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판단</a:t>
                      </a:r>
                    </a:p>
                  </a:txBody>
                  <a:tcPr marL="54864" marR="54864" marT="27432" marB="27432" anchor="ctr">
                    <a:solidFill>
                      <a:srgbClr val="0B2D5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31–60일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20%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적극 테스트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61–90일</a:t>
                      </a:r>
                    </a:p>
                  </a:txBody>
                  <a:tcPr marL="54864" marR="54864" marT="27432" marB="27432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10%</a:t>
                      </a:r>
                    </a:p>
                  </a:txBody>
                  <a:tcPr marL="54864" marR="54864" marT="27432" marB="27432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테스트 가능</a:t>
                      </a:r>
                    </a:p>
                  </a:txBody>
                  <a:tcPr marL="54864" marR="54864" marT="27432" marB="27432" anchor="ctr">
                    <a:solidFill>
                      <a:srgbClr val="F9FAF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91–120일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4%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breakeven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120일+</a:t>
                      </a:r>
                    </a:p>
                  </a:txBody>
                  <a:tcPr marL="54864" marR="54864" marT="27432" marB="27432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1%</a:t>
                      </a:r>
                    </a:p>
                  </a:txBody>
                  <a:tcPr marL="54864" marR="54864" marT="27432" marB="27432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같은 캠페인은 중단 후보</a:t>
                      </a:r>
                    </a:p>
                  </a:txBody>
                  <a:tcPr marL="54864" marR="54864" marT="27432" marB="27432" anchor="ctr"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7240" y="5166360"/>
            <a:ext cx="10652760" cy="658368"/>
          </a:xfrm>
          <a:prstGeom prst="round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5276088"/>
            <a:ext cx="10195560" cy="38404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000" b="1">
                <a:solidFill>
                  <a:srgbClr val="3B2A00"/>
                </a:solidFill>
                <a:latin typeface="Pretendard"/>
              </a:rPr>
              <a:t>고객이 아니라 캠페인의 경제성이 threshold를 결정합니다.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47472"/>
            <a:ext cx="10881360" cy="685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900" b="1">
                <a:solidFill>
                  <a:srgbClr val="0B2D5B"/>
                </a:solidFill>
                <a:latin typeface="Pretendard"/>
              </a:rPr>
              <a:t>Discount Ladder: 더 큰 할인이 항상 답은 아니다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47548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Pretendard"/>
              </a:rPr>
              <a:t>Internal Analyst Methodology Training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325880"/>
          <a:ext cx="105613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20440"/>
                <a:gridCol w="3520440"/>
                <a:gridCol w="3520440"/>
              </a:tblGrid>
              <a:tr h="694944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할인</a:t>
                      </a:r>
                    </a:p>
                  </a:txBody>
                  <a:tcPr marL="54864" marR="54864" marT="27432" marB="27432" anchor="ctr"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Response</a:t>
                      </a:r>
                    </a:p>
                  </a:txBody>
                  <a:tcPr marL="54864" marR="54864" marT="27432" marB="27432" anchor="ctr"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Net Profit before Media</a:t>
                      </a:r>
                    </a:p>
                  </a:txBody>
                  <a:tcPr marL="54864" marR="54864" marT="27432" marB="27432" anchor="ctr">
                    <a:solidFill>
                      <a:srgbClr val="0B2D5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2%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$400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10%</a:t>
                      </a:r>
                    </a:p>
                  </a:txBody>
                  <a:tcPr marL="54864" marR="54864" marT="27432" marB="27432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4%</a:t>
                      </a:r>
                    </a:p>
                  </a:txBody>
                  <a:tcPr marL="54864" marR="54864" marT="27432" marB="27432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$640</a:t>
                      </a:r>
                    </a:p>
                  </a:txBody>
                  <a:tcPr marL="54864" marR="54864" marT="27432" marB="27432" anchor="ctr">
                    <a:solidFill>
                      <a:srgbClr val="F9FAFB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15%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6%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$720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9494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20%</a:t>
                      </a:r>
                    </a:p>
                  </a:txBody>
                  <a:tcPr marL="54864" marR="54864" marT="27432" marB="27432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8%</a:t>
                      </a:r>
                    </a:p>
                  </a:txBody>
                  <a:tcPr marL="54864" marR="54864" marT="27432" marB="27432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$640</a:t>
                      </a:r>
                    </a:p>
                  </a:txBody>
                  <a:tcPr marL="54864" marR="54864" marT="27432" marB="27432" anchor="ctr">
                    <a:solidFill>
                      <a:srgbClr val="F9FA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77240" y="5166360"/>
            <a:ext cx="10652760" cy="658368"/>
          </a:xfrm>
          <a:prstGeom prst="round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5276088"/>
            <a:ext cx="10195560" cy="38404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000" b="1">
                <a:solidFill>
                  <a:srgbClr val="3B2A00"/>
                </a:solidFill>
                <a:latin typeface="Pretendard"/>
              </a:rPr>
              <a:t>20%는 반응률 winner, 15%는 profit winner입니다.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47472"/>
            <a:ext cx="10881360" cy="685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900" b="1">
                <a:solidFill>
                  <a:srgbClr val="0B2D5B"/>
                </a:solidFill>
                <a:latin typeface="Pretendard"/>
              </a:rPr>
              <a:t>실험의 목표는 반응률이 아니라 순이익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47548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Pretendard"/>
              </a:rPr>
              <a:t>Internal Analyst Methodology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9966960" cy="3520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캠페인 계산식: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Gross Profit = Responders × Average Price × Gross Margin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Discount Cost = Responders × Average Price × Discount Rate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Net Profit before Media = Gross Profit − Discount Cost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Incremental Profit = Treatment Profit − Control Profit − Campaign Cost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074920"/>
            <a:ext cx="10652760" cy="658368"/>
          </a:xfrm>
          <a:prstGeom prst="round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5184648"/>
            <a:ext cx="10195560" cy="38404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000" b="1">
                <a:solidFill>
                  <a:srgbClr val="3B2A00"/>
                </a:solidFill>
                <a:latin typeface="Pretendard"/>
              </a:rPr>
              <a:t>클릭률이 높아도 돈이 안 남으면 실패입니다.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47472"/>
            <a:ext cx="10881360" cy="685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900" b="1">
                <a:solidFill>
                  <a:srgbClr val="0B2D5B"/>
                </a:solidFill>
                <a:latin typeface="Pretendard"/>
              </a:rPr>
              <a:t>Validate: Control group을 반드시 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47548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Pretendard"/>
              </a:rPr>
              <a:t>Internal Analyst Methodology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9966960" cy="3520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CRM 실험에서 가장 위험한 착각: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하지만 일부 고객은 원래 구매했을 수 있습니다.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검증 방식: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Recency bucket별 holdout/control group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Treatment vs Control 구매율/매출/마진 비교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할인 비용과 발송 비용 차감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Incremental profit 기준 winner 선정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074920"/>
            <a:ext cx="10652760" cy="658368"/>
          </a:xfrm>
          <a:prstGeom prst="round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5184648"/>
            <a:ext cx="10195560" cy="38404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000" b="1">
                <a:solidFill>
                  <a:srgbClr val="3B2A00"/>
                </a:solidFill>
                <a:latin typeface="Pretendard"/>
              </a:rPr>
              <a:t>“캠페인을 보냈더니 구매했다.”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47472"/>
            <a:ext cx="10881360" cy="685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900" b="1">
                <a:solidFill>
                  <a:srgbClr val="0B2D5B"/>
                </a:solidFill>
                <a:latin typeface="Pretendard"/>
              </a:rPr>
              <a:t>Mixpanel 리포트 설계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47548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Pretendard"/>
              </a:rPr>
              <a:t>Internal Analyst Methodology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9966960" cy="3520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4가지 리포트를 설계합니다: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Recency Distribution — 고객 베이스 구조 파악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Response by Recency — 캠페인 성과 구간별 분석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Latency Tripwire — 위험 고객 자동 식별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Milestone Latency — 단계 간 지연 분석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074920"/>
            <a:ext cx="10652760" cy="658368"/>
          </a:xfrm>
          <a:prstGeom prst="round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5184648"/>
            <a:ext cx="10195560" cy="38404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000" b="1">
                <a:solidFill>
                  <a:srgbClr val="3B2A00"/>
                </a:solidFill>
                <a:latin typeface="Pretendard"/>
              </a:rPr>
              <a:t>이 4개 리포트가 있으면 분석가가 리텐션 문제를 진단하고 액션으로 연결할 기반이 갖춰집니다.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47472"/>
            <a:ext cx="10881360" cy="685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900" b="1">
                <a:solidFill>
                  <a:srgbClr val="0B2D5B"/>
                </a:solidFill>
                <a:latin typeface="Pretendard"/>
              </a:rPr>
              <a:t>Mixpanel Report 1: Recency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47548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Pretendard"/>
              </a:rPr>
              <a:t>Internal Analyst Methodology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5029200" cy="3200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800" b="1">
                <a:solidFill>
                  <a:srgbClr val="0B2D5B"/>
                </a:solidFill>
                <a:latin typeface="Pretendard"/>
              </a:rPr>
              <a:t>설계 포인트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00600" cy="3291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12529"/>
                </a:solidFill>
                <a:latin typeface="Pretendard"/>
              </a:defRPr>
            </a:pPr>
            <a:r>
              <a:t>목적: 고객 베이스가 최근 고객 중심인지, 오래된 고객이 쌓이는지 파악</a:t>
            </a:r>
          </a:p>
          <a:p>
            <a:pPr>
              <a:spcAft>
                <a:spcPts val="800"/>
              </a:spcAft>
              <a:defRPr sz="1700">
                <a:solidFill>
                  <a:srgbClr val="212529"/>
                </a:solidFill>
                <a:latin typeface="Pretendard"/>
              </a:defRPr>
            </a:pPr>
            <a:r>
              <a:t>Report Type: Insights / User Profile Segmentation</a:t>
            </a:r>
          </a:p>
          <a:p>
            <a:pPr>
              <a:spcAft>
                <a:spcPts val="800"/>
              </a:spcAft>
              <a:defRPr sz="1700">
                <a:solidFill>
                  <a:srgbClr val="212529"/>
                </a:solidFill>
                <a:latin typeface="Pretendard"/>
              </a:defRPr>
            </a:pPr>
            <a:r>
              <a:t>Event: Purchase / App Open / Login / Key Action</a:t>
            </a:r>
          </a:p>
          <a:p>
            <a:pPr>
              <a:spcAft>
                <a:spcPts val="800"/>
              </a:spcAft>
              <a:defRPr sz="1700">
                <a:solidFill>
                  <a:srgbClr val="212529"/>
                </a:solidFill>
                <a:latin typeface="Pretendard"/>
              </a:defRPr>
            </a:pPr>
            <a:r>
              <a:t>Breakdown: days_since_last_event bucket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17320"/>
            <a:ext cx="4846320" cy="4023360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691640"/>
            <a:ext cx="4297680" cy="3200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800" b="1">
                <a:solidFill>
                  <a:srgbClr val="007BFF"/>
                </a:solidFill>
                <a:latin typeface="Pretendard"/>
              </a:rPr>
              <a:t>분석가 체크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148840"/>
            <a:ext cx="4206240" cy="274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12529"/>
                </a:solidFill>
                <a:latin typeface="Pretendard"/>
              </a:defRPr>
            </a:pPr>
            <a:r>
              <a:t>Visualization: Stacked bar chart</a:t>
            </a:r>
          </a:p>
          <a:p>
            <a:pPr>
              <a:spcAft>
                <a:spcPts val="800"/>
              </a:spcAft>
              <a:defRPr sz="1600">
                <a:solidFill>
                  <a:srgbClr val="212529"/>
                </a:solidFill>
                <a:latin typeface="Pretendard"/>
              </a:defRPr>
            </a:pPr>
            <a:r>
              <a:t>최근 30일 고객 비중은 얼마인가?</a:t>
            </a:r>
          </a:p>
          <a:p>
            <a:pPr>
              <a:spcAft>
                <a:spcPts val="800"/>
              </a:spcAft>
              <a:defRPr sz="1600">
                <a:solidFill>
                  <a:srgbClr val="212529"/>
                </a:solidFill>
                <a:latin typeface="Pretendard"/>
              </a:defRPr>
            </a:pPr>
            <a:r>
              <a:t>90일 이상 비활성 고객이 과도하게 쌓이는가?</a:t>
            </a:r>
          </a:p>
          <a:p>
            <a:pPr>
              <a:spcAft>
                <a:spcPts val="800"/>
              </a:spcAft>
              <a:defRPr sz="1600">
                <a:solidFill>
                  <a:srgbClr val="212529"/>
                </a:solidFill>
                <a:latin typeface="Pretendard"/>
              </a:defRPr>
            </a:pPr>
            <a:r>
              <a:t>특정 유입 채널 고객이 더 빨리 오래된 구간으로 이동하는가?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650992"/>
            <a:ext cx="10469880" cy="411480"/>
          </a:xfrm>
          <a:prstGeom prst="roundRect">
            <a:avLst/>
          </a:prstGeom>
          <a:solidFill>
            <a:srgbClr val="EFF6FF"/>
          </a:solidFill>
          <a:ln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/>
            <a:r>
              <a:rPr sz="1100" b="1">
                <a:solidFill>
                  <a:srgbClr val="007BFF"/>
                </a:solidFill>
                <a:latin typeface="Pretendard"/>
              </a:rPr>
              <a:t>Visual: Mixpanel Insights 화면 모형 — Recency bucket bar chart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47472"/>
            <a:ext cx="10881360" cy="685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900" b="1">
                <a:solidFill>
                  <a:srgbClr val="0B2D5B"/>
                </a:solidFill>
                <a:latin typeface="Pretendard"/>
              </a:rPr>
              <a:t>Mixpanel Report 2: Response by Recency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47548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Pretendard"/>
              </a:rPr>
              <a:t>Internal Analyst Methodology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5029200" cy="3200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800" b="1">
                <a:solidFill>
                  <a:srgbClr val="0B2D5B"/>
                </a:solidFill>
                <a:latin typeface="Pretendard"/>
              </a:rPr>
              <a:t>설계 포인트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00600" cy="3291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12529"/>
                </a:solidFill>
                <a:latin typeface="Pretendard"/>
              </a:defRPr>
            </a:pPr>
            <a:r>
              <a:t>목적: 전체 캠페인 반응률 뒤에 숨은 구간별 성과 차이 확인</a:t>
            </a:r>
          </a:p>
          <a:p>
            <a:pPr>
              <a:spcAft>
                <a:spcPts val="800"/>
              </a:spcAft>
              <a:defRPr sz="1700">
                <a:solidFill>
                  <a:srgbClr val="212529"/>
                </a:solidFill>
                <a:latin typeface="Pretendard"/>
              </a:defRPr>
            </a:pPr>
            <a:r>
              <a:t>Report Type: Insights</a:t>
            </a:r>
          </a:p>
          <a:p>
            <a:pPr>
              <a:spcAft>
                <a:spcPts val="800"/>
              </a:spcAft>
              <a:defRPr sz="1700">
                <a:solidFill>
                  <a:srgbClr val="212529"/>
                </a:solidFill>
                <a:latin typeface="Pretendard"/>
              </a:defRPr>
            </a:pPr>
            <a:r>
              <a:t>Event: Campaign Sent → Click / Purchase / Conversion</a:t>
            </a:r>
          </a:p>
          <a:p>
            <a:pPr>
              <a:spcAft>
                <a:spcPts val="800"/>
              </a:spcAft>
              <a:defRPr sz="1700">
                <a:solidFill>
                  <a:srgbClr val="212529"/>
                </a:solidFill>
                <a:latin typeface="Pretendard"/>
              </a:defRPr>
            </a:pPr>
            <a:r>
              <a:t>Breakdown: Recency bucket at send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17320"/>
            <a:ext cx="4846320" cy="4023360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691640"/>
            <a:ext cx="4297680" cy="3200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800" b="1">
                <a:solidFill>
                  <a:srgbClr val="007BFF"/>
                </a:solidFill>
                <a:latin typeface="Pretendard"/>
              </a:rPr>
              <a:t>분석가 체크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148840"/>
            <a:ext cx="4206240" cy="274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12529"/>
                </a:solidFill>
                <a:latin typeface="Pretendard"/>
              </a:defRPr>
            </a:pPr>
            <a:r>
              <a:t>Visualization: Grouped bar chart</a:t>
            </a:r>
          </a:p>
          <a:p>
            <a:pPr>
              <a:spcAft>
                <a:spcPts val="800"/>
              </a:spcAft>
              <a:defRPr sz="1600">
                <a:solidFill>
                  <a:srgbClr val="212529"/>
                </a:solidFill>
                <a:latin typeface="Pretendard"/>
              </a:defRPr>
            </a:pPr>
            <a:r>
              <a:t>Recency 구간별 반응률은 어떻게 다른가?</a:t>
            </a:r>
          </a:p>
          <a:p>
            <a:pPr>
              <a:spcAft>
                <a:spcPts val="800"/>
              </a:spcAft>
              <a:defRPr sz="1600">
                <a:solidFill>
                  <a:srgbClr val="212529"/>
                </a:solidFill>
                <a:latin typeface="Pretendard"/>
              </a:defRPr>
            </a:pPr>
            <a:r>
              <a:t>예산을 줄여야 할 구간은?</a:t>
            </a:r>
          </a:p>
          <a:p>
            <a:pPr>
              <a:spcAft>
                <a:spcPts val="800"/>
              </a:spcAft>
              <a:defRPr sz="1600">
                <a:solidFill>
                  <a:srgbClr val="212529"/>
                </a:solidFill>
                <a:latin typeface="Pretendard"/>
              </a:defRPr>
            </a:pPr>
            <a:r>
              <a:t>더 강한 Offer를 테스트할 구간은?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47472"/>
            <a:ext cx="10881360" cy="685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900" b="1">
                <a:solidFill>
                  <a:srgbClr val="0B2D5B"/>
                </a:solidFill>
                <a:latin typeface="Pretendard"/>
              </a:rPr>
              <a:t>Mixpanel Report 3: Latency Tripwire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47548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Pretendard"/>
              </a:rPr>
              <a:t>Internal Analyst Methodology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5029200" cy="3200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800" b="1">
                <a:solidFill>
                  <a:srgbClr val="0B2D5B"/>
                </a:solidFill>
                <a:latin typeface="Pretendard"/>
              </a:rPr>
              <a:t>설계 포인트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00600" cy="3291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12529"/>
                </a:solidFill>
                <a:latin typeface="Pretendard"/>
              </a:defRPr>
            </a:pPr>
            <a:r>
              <a:t>목적: 정상 주기 대비 늦어진 고객을 CRM 자동화 대상으로 식별</a:t>
            </a:r>
          </a:p>
          <a:p>
            <a:pPr>
              <a:spcAft>
                <a:spcPts val="800"/>
              </a:spcAft>
              <a:defRPr sz="1700">
                <a:solidFill>
                  <a:srgbClr val="212529"/>
                </a:solidFill>
                <a:latin typeface="Pretendard"/>
              </a:defRPr>
            </a:pPr>
            <a:r>
              <a:t>Report Type: Cohort / Custom Property</a:t>
            </a:r>
          </a:p>
          <a:p>
            <a:pPr>
              <a:spcAft>
                <a:spcPts val="800"/>
              </a:spcAft>
              <a:defRPr sz="1700">
                <a:solidFill>
                  <a:srgbClr val="212529"/>
                </a:solidFill>
                <a:latin typeface="Pretendard"/>
              </a:defRPr>
            </a:pPr>
            <a:r>
              <a:t>Event: Purchase / Booking / Add-on / Key Feature Use</a:t>
            </a:r>
          </a:p>
          <a:p>
            <a:pPr>
              <a:spcAft>
                <a:spcPts val="800"/>
              </a:spcAft>
              <a:defRPr sz="1700">
                <a:solidFill>
                  <a:srgbClr val="212529"/>
                </a:solidFill>
                <a:latin typeface="Pretendard"/>
              </a:defRPr>
            </a:pPr>
            <a:r>
              <a:t>Breakdown: expected_interval_segment + actual_days_since_last_event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17320"/>
            <a:ext cx="4846320" cy="4023360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691640"/>
            <a:ext cx="4297680" cy="3200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800" b="1">
                <a:solidFill>
                  <a:srgbClr val="007BFF"/>
                </a:solidFill>
                <a:latin typeface="Pretendard"/>
              </a:rPr>
              <a:t>분석가 체크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148840"/>
            <a:ext cx="4206240" cy="274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12529"/>
                </a:solidFill>
                <a:latin typeface="Pretendard"/>
              </a:defRPr>
            </a:pPr>
            <a:r>
              <a:t>Filters: customer_type, product_type, plan</a:t>
            </a:r>
          </a:p>
          <a:p>
            <a:pPr>
              <a:spcAft>
                <a:spcPts val="800"/>
              </a:spcAft>
              <a:defRPr sz="1600">
                <a:solidFill>
                  <a:srgbClr val="212529"/>
                </a:solidFill>
                <a:latin typeface="Pretendard"/>
              </a:defRPr>
            </a:pPr>
            <a:r>
              <a:t>세그먼트별 정상 주기는 얼마인가?</a:t>
            </a:r>
          </a:p>
          <a:p>
            <a:pPr>
              <a:spcAft>
                <a:spcPts val="800"/>
              </a:spcAft>
              <a:defRPr sz="1600">
                <a:solidFill>
                  <a:srgbClr val="212529"/>
                </a:solidFill>
                <a:latin typeface="Pretendard"/>
              </a:defRPr>
            </a:pPr>
            <a:r>
              <a:t>현재 정상 주기를 초과한 고객은 몇 명인가?</a:t>
            </a:r>
          </a:p>
          <a:p>
            <a:pPr>
              <a:spcAft>
                <a:spcPts val="800"/>
              </a:spcAft>
              <a:defRPr sz="1600">
                <a:solidFill>
                  <a:srgbClr val="212529"/>
                </a:solidFill>
                <a:latin typeface="Pretendard"/>
              </a:defRPr>
            </a:pPr>
            <a:r>
              <a:t>어느 세그먼트가 가장 빠르게 Tripwire를 넘는가?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47472"/>
            <a:ext cx="10881360" cy="685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900" b="1">
                <a:solidFill>
                  <a:srgbClr val="0B2D5B"/>
                </a:solidFill>
                <a:latin typeface="Pretendard"/>
              </a:rPr>
              <a:t>Mixpanel Report 4: Milestone Latency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47548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Pretendard"/>
              </a:rPr>
              <a:t>Internal Analyst Methodology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5029200" cy="3200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800" b="1">
                <a:solidFill>
                  <a:srgbClr val="0B2D5B"/>
                </a:solidFill>
                <a:latin typeface="Pretendard"/>
              </a:rPr>
              <a:t>설계 포인트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00600" cy="3291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12529"/>
                </a:solidFill>
                <a:latin typeface="Pretendard"/>
              </a:defRPr>
            </a:pPr>
            <a:r>
              <a:t>목적: 어느 단계에서 지연이 발생하는지, 어느 세그먼트가 문제인지 확인</a:t>
            </a:r>
          </a:p>
          <a:p>
            <a:pPr>
              <a:spcAft>
                <a:spcPts val="800"/>
              </a:spcAft>
              <a:defRPr sz="1700">
                <a:solidFill>
                  <a:srgbClr val="212529"/>
                </a:solidFill>
                <a:latin typeface="Pretendard"/>
              </a:defRPr>
            </a:pPr>
            <a:r>
              <a:t>Signup → Activation → First Value → Add-on Purchase → Renewal</a:t>
            </a:r>
          </a:p>
          <a:p>
            <a:pPr>
              <a:spcAft>
                <a:spcPts val="800"/>
              </a:spcAft>
              <a:defRPr sz="1700">
                <a:solidFill>
                  <a:srgbClr val="212529"/>
                </a:solidFill>
                <a:latin typeface="Pretendard"/>
              </a:defRPr>
            </a:pPr>
            <a:r>
              <a:t>source / salesperson / industry / plan / onboarding path</a:t>
            </a:r>
          </a:p>
          <a:p>
            <a:pPr>
              <a:spcAft>
                <a:spcPts val="800"/>
              </a:spcAft>
              <a:defRPr sz="1700">
                <a:solidFill>
                  <a:srgbClr val="212529"/>
                </a:solidFill>
                <a:latin typeface="Pretendard"/>
              </a:defRPr>
            </a:pPr>
            <a:r>
              <a:t>어느 단계 간격이 길어지고 있는가?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17320"/>
            <a:ext cx="4846320" cy="4023360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691640"/>
            <a:ext cx="4297680" cy="3200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800" b="1">
                <a:solidFill>
                  <a:srgbClr val="007BFF"/>
                </a:solidFill>
                <a:latin typeface="Pretendard"/>
              </a:rPr>
              <a:t>분석가 체크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148840"/>
            <a:ext cx="4206240" cy="274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12529"/>
                </a:solidFill>
                <a:latin typeface="Pretendard"/>
              </a:defRPr>
            </a:pPr>
            <a:r>
              <a:t>어느 세그먼트에서 문제가 발생하는가?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650992"/>
            <a:ext cx="10469880" cy="411480"/>
          </a:xfrm>
          <a:prstGeom prst="roundRect">
            <a:avLst/>
          </a:prstGeom>
          <a:solidFill>
            <a:srgbClr val="EFF6FF"/>
          </a:solidFill>
          <a:ln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/>
            <a:r>
              <a:rPr sz="1100" b="1">
                <a:solidFill>
                  <a:srgbClr val="007BFF"/>
                </a:solidFill>
                <a:latin typeface="Pretendard"/>
              </a:rPr>
              <a:t>Visual: Funnel + 단계별 평균 일수 표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47472"/>
            <a:ext cx="10881360" cy="685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900" b="1">
                <a:solidFill>
                  <a:srgbClr val="0B2D5B"/>
                </a:solidFill>
                <a:latin typeface="Pretendard"/>
              </a:rPr>
              <a:t>BigQuery 분석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47548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Pretendard"/>
              </a:rPr>
              <a:t>Internal Analyst Methodology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9966960" cy="3520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목표: 이벤트 로그를 고객별 시간 구조로 바꿉니다.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필수 필드: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핵심 계산: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user_id, event_name, event_time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event_index, previous_event_time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days_since_previous_event, days_since_last_key_event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segment_key, revenue, margin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074920"/>
            <a:ext cx="10652760" cy="658368"/>
          </a:xfrm>
          <a:prstGeom prst="round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5184648"/>
            <a:ext cx="10195560" cy="38404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000" b="1">
                <a:solidFill>
                  <a:srgbClr val="3B2A00"/>
                </a:solidFill>
                <a:latin typeface="Pretendard"/>
              </a:rPr>
              <a:t>LAG()로 이전 행동을 찾고, DATE_DIFF()로 Recency/Latency를 만든 뒤, bucket별 profit을 집계합니다.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47472"/>
            <a:ext cx="10881360" cy="685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900" b="1">
                <a:solidFill>
                  <a:srgbClr val="0B2D5B"/>
                </a:solidFill>
                <a:latin typeface="Pretendard"/>
              </a:rPr>
              <a:t>CRM 자동화 설계 공식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47548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Pretendard"/>
              </a:rPr>
              <a:t>Internal Analyst Methodology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9966960" cy="3520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분석가가 CRM/리텐션 액션을 제안할 때 반드시 5가지를 명확히 합니다: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Trigger — 어떤 행동 조건에서 발동하는가?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Segment — 누구에게 보내는가?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Timing — 언제 보내는가?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Message/Offer — 무엇을 제안하는가?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Measurement — 성공을 무엇으로 판단하는가?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074920"/>
            <a:ext cx="10652760" cy="658368"/>
          </a:xfrm>
          <a:prstGeom prst="round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5184648"/>
            <a:ext cx="10195560" cy="38404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000" b="1">
                <a:solidFill>
                  <a:srgbClr val="3B2A00"/>
                </a:solidFill>
                <a:latin typeface="Pretendard"/>
              </a:rPr>
              <a:t>분석 제안은 아이디어가 아니라 측정 가능한 개입 시스템이어야 합니다.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47472"/>
            <a:ext cx="10881360" cy="685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900" b="1">
                <a:solidFill>
                  <a:srgbClr val="0B2D5B"/>
                </a:solidFill>
                <a:latin typeface="Pretendard"/>
              </a:rPr>
              <a:t>CRM Scenario 1: 이커머스 재구매 자동화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47548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Pretendard"/>
              </a:rPr>
              <a:t>Internal Analyst Methodology Training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325880"/>
          <a:ext cx="105613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0660"/>
                <a:gridCol w="5280660"/>
              </a:tblGrid>
              <a:tr h="5791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항목</a:t>
                      </a:r>
                    </a:p>
                  </a:txBody>
                  <a:tcPr marL="54864" marR="54864" marT="27432" marB="27432" anchor="ctr"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내용</a:t>
                      </a:r>
                    </a:p>
                  </a:txBody>
                  <a:tcPr marL="54864" marR="54864" marT="27432" marB="27432" anchor="ctr">
                    <a:solidFill>
                      <a:srgbClr val="0B2D5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Trigger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마지막 구매 후 60일 경과 + 최근 12개월 2회 이상 구매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Segment</a:t>
                      </a:r>
                    </a:p>
                  </a:txBody>
                  <a:tcPr marL="54864" marR="54864" marT="27432" marB="27432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기존 반복 구매 고객</a:t>
                      </a:r>
                    </a:p>
                  </a:txBody>
                  <a:tcPr marL="54864" marR="54864" marT="27432" marB="27432" anchor="ctr">
                    <a:solidFill>
                      <a:srgbClr val="F9FAF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Timing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60일 후 1차 → 75일 후 2차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Message</a:t>
                      </a:r>
                    </a:p>
                  </a:txBody>
                  <a:tcPr marL="54864" marR="54864" marT="27432" marB="27432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최근 구매 상품 연관 보충/추천</a:t>
                      </a:r>
                    </a:p>
                  </a:txBody>
                  <a:tcPr marL="54864" marR="54864" marT="27432" marB="27432" anchor="ctr">
                    <a:solidFill>
                      <a:srgbClr val="F9FAF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Measurement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재구매율 / 매출 / 할인 비용 / 순마진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" y="5650992"/>
            <a:ext cx="10469880" cy="411480"/>
          </a:xfrm>
          <a:prstGeom prst="roundRect">
            <a:avLst/>
          </a:prstGeom>
          <a:solidFill>
            <a:srgbClr val="EFF6FF"/>
          </a:solidFill>
          <a:ln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/>
            <a:r>
              <a:rPr sz="1100" b="1">
                <a:solidFill>
                  <a:srgbClr val="007BFF"/>
                </a:solidFill>
                <a:latin typeface="Pretendard"/>
              </a:rPr>
              <a:t>Visual: 자동화 플로우 다이어그램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47472"/>
            <a:ext cx="10881360" cy="685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900" b="1">
                <a:solidFill>
                  <a:srgbClr val="0B2D5B"/>
                </a:solidFill>
                <a:latin typeface="Pretendard"/>
              </a:rPr>
              <a:t>CRM Scenario 2: 앱 Activation 자동화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40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47548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Pretendard"/>
              </a:rPr>
              <a:t>Internal Analyst Methodology Training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325880"/>
          <a:ext cx="105613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0660"/>
                <a:gridCol w="5280660"/>
              </a:tblGrid>
              <a:tr h="5791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항목</a:t>
                      </a:r>
                    </a:p>
                  </a:txBody>
                  <a:tcPr marL="54864" marR="54864" marT="27432" marB="27432" anchor="ctr"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내용</a:t>
                      </a:r>
                    </a:p>
                  </a:txBody>
                  <a:tcPr marL="54864" marR="54864" marT="27432" marB="27432" anchor="ctr">
                    <a:solidFill>
                      <a:srgbClr val="0B2D5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Trigger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가입 후 7일 내 핵심 기능 미사용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Segment</a:t>
                      </a:r>
                    </a:p>
                  </a:txBody>
                  <a:tcPr marL="54864" marR="54864" marT="27432" marB="27432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신규 가입자 중 Activation 미완료</a:t>
                      </a:r>
                    </a:p>
                  </a:txBody>
                  <a:tcPr marL="54864" marR="54864" marT="27432" marB="27432" anchor="ctr">
                    <a:solidFill>
                      <a:srgbClr val="F9FAF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Timing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D+3 교육 → D+7 리마인드 → D+10 개인화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Message</a:t>
                      </a:r>
                    </a:p>
                  </a:txBody>
                  <a:tcPr marL="54864" marR="54864" marT="27432" marB="27432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첫 성공 경험을 만드는 짧은 가이드</a:t>
                      </a:r>
                    </a:p>
                  </a:txBody>
                  <a:tcPr marL="54864" marR="54864" marT="27432" marB="27432" anchor="ctr">
                    <a:solidFill>
                      <a:srgbClr val="F9FAF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Measurement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핵심 기능 사용률 / D7·D14 Retention / 유료 전환율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47472"/>
            <a:ext cx="10881360" cy="685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900" b="1">
                <a:solidFill>
                  <a:srgbClr val="0B2D5B"/>
                </a:solidFill>
                <a:latin typeface="Pretendard"/>
              </a:rPr>
              <a:t>CRM Scenario 3: B2B SaaS Add-on 지연 자동화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41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47548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Pretendard"/>
              </a:rPr>
              <a:t>Internal Analyst Methodology Training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325880"/>
          <a:ext cx="1056132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0660"/>
                <a:gridCol w="5280660"/>
              </a:tblGrid>
              <a:tr h="5791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항목</a:t>
                      </a:r>
                    </a:p>
                  </a:txBody>
                  <a:tcPr marL="54864" marR="54864" marT="27432" marB="27432" anchor="ctr">
                    <a:solidFill>
                      <a:srgbClr val="0B2D5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Pretendard"/>
                        </a:defRPr>
                      </a:pPr>
                      <a:r>
                        <a:t>내용</a:t>
                      </a:r>
                    </a:p>
                  </a:txBody>
                  <a:tcPr marL="54864" marR="54864" marT="27432" marB="27432" anchor="ctr">
                    <a:solidFill>
                      <a:srgbClr val="0B2D5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Trigger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Base 구매 후 평균 Add-on 구매 주기 초과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Segment</a:t>
                      </a:r>
                    </a:p>
                  </a:txBody>
                  <a:tcPr marL="54864" marR="54864" marT="27432" marB="27432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온보딩 완료 계정 중 Add-on 미구매</a:t>
                      </a:r>
                    </a:p>
                  </a:txBody>
                  <a:tcPr marL="54864" marR="54864" marT="27432" marB="27432" anchor="ctr">
                    <a:solidFill>
                      <a:srgbClr val="F9FAF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Timing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평균 주기 초과 직전 세일즈/CS 알림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Message</a:t>
                      </a:r>
                    </a:p>
                  </a:txBody>
                  <a:tcPr marL="54864" marR="54864" marT="27432" marB="27432" anchor="ctr">
                    <a:solidFill>
                      <a:srgbClr val="F9FA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사용 맥락별 Add-on 활용 사례 + ROI 계산</a:t>
                      </a:r>
                    </a:p>
                  </a:txBody>
                  <a:tcPr marL="54864" marR="54864" marT="27432" marB="27432" anchor="ctr">
                    <a:solidFill>
                      <a:srgbClr val="F9FAF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Measurement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12529"/>
                          </a:solidFill>
                          <a:latin typeface="Pretendard"/>
                        </a:defRPr>
                      </a:pPr>
                      <a:r>
                        <a:t>Add-on conversion / time-to-add-on / expansion revenue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47472"/>
            <a:ext cx="10881360" cy="685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900" b="1">
                <a:solidFill>
                  <a:srgbClr val="0B2D5B"/>
                </a:solidFill>
                <a:latin typeface="Pretendard"/>
              </a:rPr>
              <a:t>RFM은 언제 쓰나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42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47548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Pretendard"/>
              </a:rPr>
              <a:t>Internal Analyst Methodology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9966960" cy="3520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Recency만으로도 강력하지만,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Frequency와 결합하면 “누구에게 쓸지” 판단이 좋아집니다.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PDF 원문 예시: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Recency 상위 quintile은 하위 quintile보다 40배 반응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Frequency 상위 quintile은 하위 quintile보다 9배 반응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TV shopping RF55는 RF11보다 700배 반응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074920"/>
            <a:ext cx="10652760" cy="658368"/>
          </a:xfrm>
          <a:prstGeom prst="round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5184648"/>
            <a:ext cx="10195560" cy="38404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000" b="1">
                <a:solidFill>
                  <a:srgbClr val="3B2A00"/>
                </a:solidFill>
                <a:latin typeface="Pretendard"/>
              </a:rPr>
              <a:t>RFM은 본편의 다음 단계, 즉 고객 우선순위화 도구입니다.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47472"/>
            <a:ext cx="10881360" cy="685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900" b="1">
                <a:solidFill>
                  <a:srgbClr val="0B2D5B"/>
                </a:solidFill>
                <a:latin typeface="Pretendard"/>
              </a:rPr>
              <a:t>상태보다 방향이 중요하다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43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47548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Pretendard"/>
              </a:rPr>
              <a:t>Internal Analyst Methodology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9966960" cy="3520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같은 RF43이라도 두 고객은 다릅니다.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고객 A는 성장 중일 수 있고,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고객 B는 이탈 진행 중일 수 있습니다.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고객 A: 지난달 RF22 → 이번 달 RF43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고객 B: 지난달 RF55 → 이번 달 RF43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074920"/>
            <a:ext cx="10652760" cy="658368"/>
          </a:xfrm>
          <a:prstGeom prst="round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5184648"/>
            <a:ext cx="10195560" cy="38404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000" b="1">
                <a:solidFill>
                  <a:srgbClr val="3B2A00"/>
                </a:solidFill>
                <a:latin typeface="Pretendard"/>
              </a:rPr>
              <a:t>CRM은 현재 상태뿐 아니라 변화 방향을 봐야 합니다.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47472"/>
            <a:ext cx="10881360" cy="685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900" b="1">
                <a:solidFill>
                  <a:srgbClr val="0B2D5B"/>
                </a:solidFill>
                <a:latin typeface="Pretendard"/>
              </a:rPr>
              <a:t>실습 1: 우리 데이터 30-60-90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47548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Pretendard"/>
              </a:rPr>
              <a:t>Internal Analyst Methodology Training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965960"/>
            <a:ext cx="3398520" cy="2331720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130552"/>
            <a:ext cx="3069336" cy="38404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2000" b="1">
                <a:solidFill>
                  <a:srgbClr val="0B2D5B"/>
                </a:solidFill>
                <a:latin typeface="Pretendard"/>
              </a:rPr>
              <a:t>Warm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743200"/>
            <a:ext cx="2996184" cy="1371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600" b="0">
                <a:solidFill>
                  <a:srgbClr val="212529"/>
                </a:solidFill>
                <a:latin typeface="Pretendard"/>
              </a:rPr>
              <a:t>0–60일</a:t>
            </a:r>
            <a:br/>
            <a:r>
              <a:rPr sz="1600" b="0">
                <a:solidFill>
                  <a:srgbClr val="212529"/>
                </a:solidFill>
                <a:latin typeface="Pretendard"/>
              </a:rPr>
              <a:t>반응 가능성이 높은 고객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4360" y="1965960"/>
            <a:ext cx="3398520" cy="2331720"/>
          </a:xfrm>
          <a:prstGeom prst="roundRect">
            <a:avLst/>
          </a:prstGeom>
          <a:solidFill>
            <a:srgbClr val="FFF7E6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8952" y="2130552"/>
            <a:ext cx="3069336" cy="38404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2000" b="1">
                <a:solidFill>
                  <a:srgbClr val="0B2D5B"/>
                </a:solidFill>
                <a:latin typeface="Pretendard"/>
              </a:rPr>
              <a:t>Cooling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5528" y="2743200"/>
            <a:ext cx="2996184" cy="1371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600" b="0">
                <a:solidFill>
                  <a:srgbClr val="212529"/>
                </a:solidFill>
                <a:latin typeface="Pretendard"/>
              </a:rPr>
              <a:t>61–120일</a:t>
            </a:r>
            <a:br/>
            <a:r>
              <a:rPr sz="1600" b="0">
                <a:solidFill>
                  <a:srgbClr val="212529"/>
                </a:solidFill>
                <a:latin typeface="Pretendard"/>
              </a:rPr>
              <a:t>이탈 위험이 커지는 고객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31480" y="1965960"/>
            <a:ext cx="3398520" cy="2331720"/>
          </a:xfrm>
          <a:prstGeom prst="roundRect">
            <a:avLst/>
          </a:prstGeom>
          <a:solidFill>
            <a:srgbClr val="ECFDF5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96072" y="2130552"/>
            <a:ext cx="3069336" cy="38404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2000" b="1">
                <a:solidFill>
                  <a:srgbClr val="0B2D5B"/>
                </a:solidFill>
                <a:latin typeface="Pretendard"/>
              </a:rPr>
              <a:t>Cold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32648" y="2743200"/>
            <a:ext cx="2996184" cy="1371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600" b="0">
                <a:solidFill>
                  <a:srgbClr val="212529"/>
                </a:solidFill>
                <a:latin typeface="Pretendard"/>
              </a:rPr>
              <a:t>121일+</a:t>
            </a:r>
            <a:br/>
            <a:r>
              <a:rPr sz="1600" b="0">
                <a:solidFill>
                  <a:srgbClr val="212529"/>
                </a:solidFill>
                <a:latin typeface="Pretendard"/>
              </a:rPr>
              <a:t>재획득 또는 별도 offer 후보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47472"/>
            <a:ext cx="10881360" cy="685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900" b="1">
                <a:solidFill>
                  <a:srgbClr val="0B2D5B"/>
                </a:solidFill>
                <a:latin typeface="Pretendard"/>
              </a:rPr>
              <a:t>실습 2: Latency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47548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Pretendard"/>
              </a:rPr>
              <a:t>Internal Analyst Methodology Training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4389120"/>
            <a:ext cx="9966960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1832" y="2552582"/>
            <a:ext cx="128016" cy="128016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32542"/>
            <a:ext cx="54864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1">
                <a:solidFill>
                  <a:srgbClr val="0B2D5B"/>
                </a:solidFill>
                <a:latin typeface="Pretendard"/>
              </a:rPr>
              <a:t>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480560"/>
            <a:ext cx="54864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0">
                <a:solidFill>
                  <a:srgbClr val="212529"/>
                </a:solidFill>
                <a:latin typeface="Pretendard"/>
              </a:rPr>
              <a:t>1→2</a:t>
            </a:r>
          </a:p>
        </p:txBody>
      </p:sp>
      <p:sp>
        <p:nvSpPr>
          <p:cNvPr id="10" name="Oval 9"/>
          <p:cNvSpPr/>
          <p:nvPr/>
        </p:nvSpPr>
        <p:spPr>
          <a:xfrm>
            <a:off x="2935224" y="3143425"/>
            <a:ext cx="128016" cy="128016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24912" y="2823385"/>
            <a:ext cx="54864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1">
                <a:solidFill>
                  <a:srgbClr val="0B2D5B"/>
                </a:solidFill>
                <a:latin typeface="Pretendard"/>
              </a:rPr>
              <a:t>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4912" y="4480560"/>
            <a:ext cx="54864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0">
                <a:solidFill>
                  <a:srgbClr val="212529"/>
                </a:solidFill>
                <a:latin typeface="Pretendard"/>
              </a:rPr>
              <a:t>2→3</a:t>
            </a:r>
          </a:p>
        </p:txBody>
      </p:sp>
      <p:sp>
        <p:nvSpPr>
          <p:cNvPr id="13" name="Oval 12"/>
          <p:cNvSpPr/>
          <p:nvPr/>
        </p:nvSpPr>
        <p:spPr>
          <a:xfrm>
            <a:off x="4928616" y="3734268"/>
            <a:ext cx="128016" cy="128016"/>
          </a:xfrm>
          <a:prstGeom prst="ellipse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18304" y="3414228"/>
            <a:ext cx="54864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1">
                <a:solidFill>
                  <a:srgbClr val="0B2D5B"/>
                </a:solidFill>
                <a:latin typeface="Pretendard"/>
              </a:rPr>
              <a:t>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18304" y="4480560"/>
            <a:ext cx="54864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0">
                <a:solidFill>
                  <a:srgbClr val="212529"/>
                </a:solidFill>
                <a:latin typeface="Pretendard"/>
              </a:rPr>
              <a:t>3→4</a:t>
            </a:r>
          </a:p>
        </p:txBody>
      </p:sp>
      <p:sp>
        <p:nvSpPr>
          <p:cNvPr id="16" name="Oval 15"/>
          <p:cNvSpPr/>
          <p:nvPr/>
        </p:nvSpPr>
        <p:spPr>
          <a:xfrm>
            <a:off x="6922008" y="3143425"/>
            <a:ext cx="128016" cy="128016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11696" y="2823385"/>
            <a:ext cx="54864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1">
                <a:solidFill>
                  <a:srgbClr val="0B2D5B"/>
                </a:solidFill>
                <a:latin typeface="Pretendard"/>
              </a:rPr>
              <a:t>60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11696" y="4480560"/>
            <a:ext cx="54864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0">
                <a:solidFill>
                  <a:srgbClr val="212529"/>
                </a:solidFill>
                <a:latin typeface="Pretendard"/>
              </a:rPr>
              <a:t>4→5</a:t>
            </a:r>
          </a:p>
        </p:txBody>
      </p:sp>
      <p:sp>
        <p:nvSpPr>
          <p:cNvPr id="19" name="Oval 18"/>
          <p:cNvSpPr/>
          <p:nvPr/>
        </p:nvSpPr>
        <p:spPr>
          <a:xfrm>
            <a:off x="8915400" y="2552582"/>
            <a:ext cx="128016" cy="128016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05088" y="2232542"/>
            <a:ext cx="54864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1">
                <a:solidFill>
                  <a:srgbClr val="0B2D5B"/>
                </a:solidFill>
                <a:latin typeface="Pretendard"/>
              </a:rPr>
              <a:t>90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05088" y="4480560"/>
            <a:ext cx="54864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0">
                <a:solidFill>
                  <a:srgbClr val="212529"/>
                </a:solidFill>
                <a:latin typeface="Pretendard"/>
              </a:rPr>
              <a:t>5→6</a:t>
            </a:r>
          </a:p>
        </p:txBody>
      </p:sp>
      <p:sp>
        <p:nvSpPr>
          <p:cNvPr id="22" name="Oval 21"/>
          <p:cNvSpPr/>
          <p:nvPr/>
        </p:nvSpPr>
        <p:spPr>
          <a:xfrm>
            <a:off x="10908792" y="1961739"/>
            <a:ext cx="128016" cy="128016"/>
          </a:xfrm>
          <a:prstGeom prst="ellipse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98480" y="1641699"/>
            <a:ext cx="54864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1000" b="1">
                <a:solidFill>
                  <a:srgbClr val="0B2D5B"/>
                </a:solidFill>
                <a:latin typeface="Pretendard"/>
              </a:rPr>
              <a:t>120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0" y="4480560"/>
            <a:ext cx="54864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ctr"/>
            <a:r>
              <a:rPr sz="900" b="0">
                <a:solidFill>
                  <a:srgbClr val="212529"/>
                </a:solidFill>
                <a:latin typeface="Pretendard"/>
              </a:rPr>
              <a:t>6→7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7960" y="2011680"/>
            <a:ext cx="2194560" cy="502920"/>
          </a:xfrm>
          <a:prstGeom prst="roundRect">
            <a:avLst/>
          </a:prstGeom>
          <a:solidFill>
            <a:srgbClr val="FFF7E6"/>
          </a:solidFill>
          <a:ln>
            <a:solidFill>
              <a:srgbClr val="FFF7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800" b="1">
                <a:solidFill>
                  <a:srgbClr val="FF9900"/>
                </a:solidFill>
                <a:latin typeface="Pretendard"/>
              </a:rPr>
              <a:t>Turning Point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47472"/>
            <a:ext cx="10881360" cy="685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900" b="1">
                <a:solidFill>
                  <a:srgbClr val="0B2D5B"/>
                </a:solidFill>
                <a:latin typeface="Pretendard"/>
              </a:rPr>
              <a:t>실습 3: Timing × Offer Grid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47548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Pretendard"/>
              </a:rPr>
              <a:t>Internal Analyst Methodology Training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234440"/>
            <a:ext cx="10332720" cy="502920"/>
          </a:xfrm>
          <a:prstGeom prst="roundRect">
            <a:avLst/>
          </a:prstGeom>
          <a:solidFill>
            <a:srgbClr val="007BFF"/>
          </a:solidFill>
          <a:ln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Pretendard"/>
              </a:rPr>
              <a:t>워크숍 산출물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874519"/>
            <a:ext cx="9966960" cy="3291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Recency bucket을 정한다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bucket별 동일 offer response curve를 측정한다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특정 bucket에서 offer ladder를 테스트한다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response winner와 profit winner를 비교한다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profit winner만 automation 후보로 올린다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47472"/>
            <a:ext cx="10881360" cy="685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900" b="1">
                <a:solidFill>
                  <a:srgbClr val="0B2D5B"/>
                </a:solidFill>
                <a:latin typeface="Pretendard"/>
              </a:rPr>
              <a:t>A/B Test 1: Tripwire 타이밍 최적화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47548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Pretendard"/>
              </a:rPr>
              <a:t>Internal Analyst Methodology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5029200" cy="3200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800" b="1">
                <a:solidFill>
                  <a:srgbClr val="0B2D5B"/>
                </a:solidFill>
                <a:latin typeface="Pretendard"/>
              </a:rPr>
              <a:t>설계 포인트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00600" cy="3291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12529"/>
                </a:solidFill>
                <a:latin typeface="Pretendard"/>
              </a:defRPr>
            </a:pPr>
            <a:r>
              <a:t>가설: 초기 Tripwire 개입은 늦은 Win-back보다 수익성이 높다.</a:t>
            </a:r>
          </a:p>
          <a:p>
            <a:pPr>
              <a:spcAft>
                <a:spcPts val="800"/>
              </a:spcAft>
              <a:defRPr sz="1700">
                <a:solidFill>
                  <a:srgbClr val="212529"/>
                </a:solidFill>
                <a:latin typeface="Pretendard"/>
              </a:defRPr>
            </a:pPr>
            <a:r>
              <a:t>Target: 반복 구매 고객</a:t>
            </a:r>
          </a:p>
          <a:p>
            <a:pPr>
              <a:spcAft>
                <a:spcPts val="800"/>
              </a:spcAft>
              <a:defRPr sz="1700">
                <a:solidFill>
                  <a:srgbClr val="212529"/>
                </a:solidFill>
                <a:latin typeface="Pretendard"/>
              </a:defRPr>
            </a:pPr>
            <a:r>
              <a:t>Variant A: 60일 경과 시 메시지</a:t>
            </a:r>
          </a:p>
          <a:p>
            <a:pPr>
              <a:spcAft>
                <a:spcPts val="800"/>
              </a:spcAft>
              <a:defRPr sz="1700">
                <a:solidFill>
                  <a:srgbClr val="212529"/>
                </a:solidFill>
                <a:latin typeface="Pretendard"/>
              </a:defRPr>
            </a:pPr>
            <a:r>
              <a:t>Variant B: 90일 경과 시 메시지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17320"/>
            <a:ext cx="4846320" cy="4023360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691640"/>
            <a:ext cx="4297680" cy="3200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800" b="1">
                <a:solidFill>
                  <a:srgbClr val="007BFF"/>
                </a:solidFill>
                <a:latin typeface="Pretendard"/>
              </a:rPr>
              <a:t>분석가 체크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148840"/>
            <a:ext cx="4206240" cy="274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12529"/>
                </a:solidFill>
                <a:latin typeface="Pretendard"/>
              </a:defRPr>
            </a:pPr>
            <a:r>
              <a:t>Variant C: 120일 경과 시 메시지</a:t>
            </a:r>
          </a:p>
          <a:p>
            <a:pPr>
              <a:spcAft>
                <a:spcPts val="800"/>
              </a:spcAft>
              <a:defRPr sz="1600">
                <a:solidFill>
                  <a:srgbClr val="212529"/>
                </a:solidFill>
                <a:latin typeface="Pretendard"/>
              </a:defRPr>
            </a:pPr>
            <a:r>
              <a:t>KPI: 재구매율 / 할인 비용 / 순마진</a:t>
            </a:r>
          </a:p>
          <a:p>
            <a:pPr>
              <a:spcAft>
                <a:spcPts val="800"/>
              </a:spcAft>
              <a:defRPr sz="1600">
                <a:solidFill>
                  <a:srgbClr val="212529"/>
                </a:solidFill>
                <a:latin typeface="Pretendard"/>
              </a:defRPr>
            </a:pPr>
            <a:r>
              <a:t>Learning: 개입 최적 시점 도출 → Tripwire 기준 업데이트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650992"/>
            <a:ext cx="10469880" cy="411480"/>
          </a:xfrm>
          <a:prstGeom prst="roundRect">
            <a:avLst/>
          </a:prstGeom>
          <a:solidFill>
            <a:srgbClr val="EFF6FF"/>
          </a:solidFill>
          <a:ln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l"/>
            <a:r>
              <a:rPr sz="1100" b="1">
                <a:solidFill>
                  <a:srgbClr val="007BFF"/>
                </a:solidFill>
                <a:latin typeface="Pretendard"/>
              </a:rPr>
              <a:t>Visual: 60/90/120일 개입 비교 실험 도식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47472"/>
            <a:ext cx="10881360" cy="685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900" b="1">
                <a:solidFill>
                  <a:srgbClr val="0B2D5B"/>
                </a:solidFill>
                <a:latin typeface="Pretendard"/>
              </a:rPr>
              <a:t>A/B Test 2: 구간별 Offer 최적화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48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47548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Pretendard"/>
              </a:rPr>
              <a:t>Internal Analyst Methodology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5029200" cy="3200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800" b="1">
                <a:solidFill>
                  <a:srgbClr val="0B2D5B"/>
                </a:solidFill>
                <a:latin typeface="Pretendard"/>
              </a:rPr>
              <a:t>설계 포인트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4800600" cy="3291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12529"/>
                </a:solidFill>
                <a:latin typeface="Pretendard"/>
              </a:defRPr>
            </a:pPr>
            <a:r>
              <a:t>가설: Recency 구간별로 최적 Offer가 다르다.</a:t>
            </a:r>
          </a:p>
          <a:p>
            <a:pPr>
              <a:spcAft>
                <a:spcPts val="800"/>
              </a:spcAft>
              <a:defRPr sz="1700">
                <a:solidFill>
                  <a:srgbClr val="212529"/>
                </a:solidFill>
                <a:latin typeface="Pretendard"/>
              </a:defRPr>
            </a:pPr>
            <a:r>
              <a:t>Target: 마지막 구매 후 91~120일 고객</a:t>
            </a:r>
          </a:p>
          <a:p>
            <a:pPr>
              <a:spcAft>
                <a:spcPts val="800"/>
              </a:spcAft>
              <a:defRPr sz="1700">
                <a:solidFill>
                  <a:srgbClr val="212529"/>
                </a:solidFill>
                <a:latin typeface="Pretendard"/>
              </a:defRPr>
            </a:pPr>
            <a:r>
              <a:t>Variant A: 10% 할인</a:t>
            </a:r>
          </a:p>
          <a:p>
            <a:pPr>
              <a:spcAft>
                <a:spcPts val="800"/>
              </a:spcAft>
              <a:defRPr sz="1700">
                <a:solidFill>
                  <a:srgbClr val="212529"/>
                </a:solidFill>
                <a:latin typeface="Pretendard"/>
              </a:defRPr>
            </a:pPr>
            <a:r>
              <a:t>Variant B: 15% 할인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17320"/>
            <a:ext cx="4846320" cy="4023360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691640"/>
            <a:ext cx="4297680" cy="32004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1800" b="1">
                <a:solidFill>
                  <a:srgbClr val="007BFF"/>
                </a:solidFill>
                <a:latin typeface="Pretendard"/>
              </a:rPr>
              <a:t>분석가 체크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2148840"/>
            <a:ext cx="4206240" cy="274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12529"/>
                </a:solidFill>
                <a:latin typeface="Pretendard"/>
              </a:defRPr>
            </a:pPr>
            <a:r>
              <a:t>Variant C: 20% 할인</a:t>
            </a:r>
          </a:p>
          <a:p>
            <a:pPr>
              <a:spcAft>
                <a:spcPts val="800"/>
              </a:spcAft>
              <a:defRPr sz="1600">
                <a:solidFill>
                  <a:srgbClr val="212529"/>
                </a:solidFill>
                <a:latin typeface="Pretendard"/>
              </a:defRPr>
            </a:pPr>
            <a:r>
              <a:t>KPI: 구매 전환율 / 할인 비용 / 순이익</a:t>
            </a:r>
          </a:p>
          <a:p>
            <a:pPr>
              <a:spcAft>
                <a:spcPts val="800"/>
              </a:spcAft>
              <a:defRPr sz="1600">
                <a:solidFill>
                  <a:srgbClr val="212529"/>
                </a:solidFill>
                <a:latin typeface="Pretendard"/>
              </a:defRPr>
            </a:pPr>
            <a:r>
              <a:t>Learning: 반응률이 가장 높은 Offer와 수익성 최고 Offer의 차이 확인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47472"/>
            <a:ext cx="10881360" cy="685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900" b="1">
                <a:solidFill>
                  <a:srgbClr val="0B2D5B"/>
                </a:solidFill>
                <a:latin typeface="Pretendard"/>
              </a:rPr>
              <a:t>흔한 실패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49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47548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Pretendard"/>
              </a:rPr>
              <a:t>Internal Analyst Methodology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9966960" cy="3520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전체 평균 Latency 하나로 모든 고객을 판단한다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오래된 고객에게 더 큰 할인만 준다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최근 고객에게 불필요한 할인을 준다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클릭률/응답률만 보고 승자를 고른다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control group 없이 CRM 성과를 믿는다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한 번 만든 threshold를 계속 고정한다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074920"/>
            <a:ext cx="10652760" cy="658368"/>
          </a:xfrm>
          <a:prstGeom prst="round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5184648"/>
            <a:ext cx="10195560" cy="38404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000" b="1">
                <a:solidFill>
                  <a:srgbClr val="3B2A00"/>
                </a:solidFill>
                <a:latin typeface="Pretendard"/>
              </a:rPr>
              <a:t>리텐션 자동화는 “설정”이 아니라 “학습 시스템”입니다.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47472"/>
            <a:ext cx="10881360" cy="685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900" b="1">
                <a:solidFill>
                  <a:srgbClr val="0B2D5B"/>
                </a:solidFill>
                <a:latin typeface="Pretendard"/>
              </a:rPr>
              <a:t>실무 적용 체크리스트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50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47548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Pretendard"/>
              </a:rPr>
              <a:t>Internal Analyst Methodology Training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234440"/>
            <a:ext cx="10332720" cy="502920"/>
          </a:xfrm>
          <a:prstGeom prst="roundRect">
            <a:avLst/>
          </a:prstGeom>
          <a:solidFill>
            <a:srgbClr val="007BFF"/>
          </a:solidFill>
          <a:ln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Pretendard"/>
              </a:rPr>
              <a:t>워크숍 산출물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874519"/>
            <a:ext cx="9966960" cy="3291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[ ] 핵심 반복 행동이 정의되어 있는가?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[ ] 마지막 행동일을 추적하고 있는가?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[ ] Recency bucket을 만들 수 있는가?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[ ] 세그먼트별 정상 주기를 알고 있는가?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[ ] Tripwire 기준이 데이터로 검증되었는가?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[ ] CRM 메시지와 분석 리포트가 연결되어 있는가?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[ ] KPI가 반응률 외에 순이익·마진까지 포함하는가?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349240"/>
            <a:ext cx="10652760" cy="658368"/>
          </a:xfrm>
          <a:prstGeom prst="round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5458968"/>
            <a:ext cx="10195560" cy="38404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000" b="1">
                <a:solidFill>
                  <a:srgbClr val="3B2A00"/>
                </a:solidFill>
                <a:latin typeface="Pretendard"/>
              </a:rPr>
              <a:t>체크 못 한 항목이 오늘 당장 해야 할 일입니다.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47472"/>
            <a:ext cx="10881360" cy="685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900" b="1">
                <a:solidFill>
                  <a:srgbClr val="0B2D5B"/>
                </a:solidFill>
                <a:latin typeface="Pretendard"/>
              </a:rPr>
              <a:t>오늘의 핵심 5가지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51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47548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Pretendard"/>
              </a:rPr>
              <a:t>Internal Analyst Methodology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17320"/>
            <a:ext cx="9966960" cy="3520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이탈은 이벤트가 아니라 프로세스다 — 행동 신호는 먼저 온다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평균은 차이를 숨긴다 — Recency bucket으로 쪼개라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행동을 바꾸려면 행동 변수로 타깃팅해야 한다 — 전체 대상 일괄 발송 금지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리텐션 마케팅은 더 많이 보내는 것이 아니라 더 정확한 시점에 개입하는 것</a:t>
            </a:r>
          </a:p>
          <a:p>
            <a:pPr>
              <a:spcAft>
                <a:spcPts val="800"/>
              </a:spcAft>
              <a:defRPr sz="2000">
                <a:solidFill>
                  <a:srgbClr val="212529"/>
                </a:solidFill>
                <a:latin typeface="Pretendard"/>
              </a:defRPr>
            </a:pPr>
            <a:r>
              <a:t>CRM 자동화는 룰이 아니라 반복 학습 시스템이다 — 측정 없이 자동화 없다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5074920"/>
            <a:ext cx="10652760" cy="658368"/>
          </a:xfrm>
          <a:prstGeom prst="round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5184648"/>
            <a:ext cx="10195560" cy="38404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000" b="1">
                <a:solidFill>
                  <a:srgbClr val="3B2A00"/>
                </a:solidFill>
                <a:latin typeface="Pretendard"/>
              </a:rPr>
              <a:t>Data → Insight → Action → Experiment → Learning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7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85216" y="347472"/>
            <a:ext cx="10881360" cy="6858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900" b="1">
                <a:solidFill>
                  <a:srgbClr val="0B2D5B"/>
                </a:solidFill>
                <a:latin typeface="Pretendard"/>
              </a:rPr>
              <a:t>내일부터 팀에서 해볼 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35640" y="6446520"/>
            <a:ext cx="82296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pPr algn="r"/>
            <a:r>
              <a:rPr sz="1000" b="1">
                <a:solidFill>
                  <a:srgbClr val="6B7280"/>
                </a:solidFill>
                <a:latin typeface="Pretendard"/>
              </a:rPr>
              <a:t>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46520"/>
            <a:ext cx="4754880" cy="228600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900" b="0">
                <a:solidFill>
                  <a:srgbClr val="6B7280"/>
                </a:solidFill>
                <a:latin typeface="Pretendard"/>
              </a:rPr>
              <a:t>Internal Analyst Methodology Training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234440"/>
            <a:ext cx="10332720" cy="502920"/>
          </a:xfrm>
          <a:prstGeom prst="roundRect">
            <a:avLst/>
          </a:prstGeom>
          <a:solidFill>
            <a:srgbClr val="007BFF"/>
          </a:solidFill>
          <a:ln>
            <a:solidFill>
              <a:srgbClr val="00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>
            <a:norm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Pretendard"/>
              </a:rPr>
              <a:t>워크숍 산출물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874519"/>
            <a:ext cx="9966960" cy="3291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핵심 행동 1개를 정한다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Recency 30-60-90 분포를 뽑는다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응답자/구매자 분포와 비교한다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반복 행동 Latency sequence를 계산한다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segment별 threshold 후보를 만든다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Timing × Offer × Profit 실험을 설계한다</a:t>
            </a:r>
          </a:p>
          <a:p>
            <a:pPr>
              <a:spcAft>
                <a:spcPts val="800"/>
              </a:spcAft>
              <a:defRPr sz="1900">
                <a:solidFill>
                  <a:srgbClr val="212529"/>
                </a:solidFill>
                <a:latin typeface="Pretendard"/>
              </a:defRPr>
            </a:pPr>
            <a:r>
              <a:t>control group을 반드시 둔다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349240"/>
            <a:ext cx="10652760" cy="658368"/>
          </a:xfrm>
          <a:prstGeom prst="roundRect">
            <a:avLst/>
          </a:prstGeom>
          <a:solidFill>
            <a:srgbClr val="FFF7E6"/>
          </a:solidFill>
          <a:ln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5458968"/>
            <a:ext cx="10195560" cy="384048"/>
          </a:xfrm>
          <a:prstGeom prst="rect">
            <a:avLst/>
          </a:prstGeom>
          <a:noFill/>
        </p:spPr>
        <p:txBody>
          <a:bodyPr wrap="square" anchor="ctr">
            <a:normAutofit/>
          </a:bodyPr>
          <a:lstStyle/>
          <a:p>
            <a:r>
              <a:rPr sz="2000" b="1">
                <a:solidFill>
                  <a:srgbClr val="3B2A00"/>
                </a:solidFill>
                <a:latin typeface="Pretendard"/>
              </a:rPr>
              <a:t>작은 spreadsheet 하나로도 분석 질문의 수준은 바뀔 수 있습니다.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